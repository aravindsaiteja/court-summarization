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45 Seconds]</a:t>
            </a:r>
          </a:p>
          <a:p>
            <a:r>
              <a:t>🎯 [SLIDE OBJECTIVE]: Set a commanding, professional tone. Introduce the project title, the high-stakes legal domain, and the core technological paradigm.</a:t>
            </a:r>
          </a:p>
          <a:p/>
          <a:p>
            <a:r>
              <a:t>🗣️ [WHAT TO SAY OUT LOUD - VERBATIM SCRIPT]:</a:t>
            </a:r>
          </a:p>
          <a:p>
            <a:r>
              <a:t>"Respected members of the review panel, good morning. Today I am presenting my capstone project titled: 'Real-Time Multilingual Court Proceeding Summarization System Using Speech Recognition and Strictly Extractive Summarization'. Court proceedings across multilingual jurisdictions generate thousands of hours of audio and video that are dense, rapid, and code-switched. Our goal is to create an end-to-end assistive pipeline that automatically transcribes judicial recordings, separates advocate allegations from binding judicial rulings, and generates microsecond-anchored extractive summaries with zero hallucination. Over the next few minutes, I will walk you through the problem statement, system architecture, core algorithms, empirical evaluation, and live demonstration."</a:t>
            </a:r>
          </a:p>
          <a:p/>
          <a:p>
            <a:r>
              <a:t>💡 [PROFESSOR / VIVA TIP &amp; DEFENSE]:</a:t>
            </a:r>
          </a:p>
          <a:p>
            <a:r>
              <a:t>Memorize the four core pillars immediately: 1. Strictly extractive (zero hallucination); 2. Segregation of allegations vs rulings; 3. Temporal traceability to source audio; 4. Mandatory assistive review disclaimer.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Explain why this problem matters in the real world and why human transcription alone is failing.</a:t>
            </a:r>
          </a:p>
          <a:p/>
          <a:p>
            <a:r>
              <a:t>🗣️ [WHAT TO SAY OUT LOUD - VERBATIM SCRIPT]:</a:t>
            </a:r>
          </a:p>
          <a:p>
            <a:r>
              <a:t>"Let us examine the operational crisis in modern courtrooms. With digital court initiatives globally, tribunals now record hundreds of hours of proceedings daily. However, reviewing a single contested 3-hour hearing requires a law clerk or junior advocate to spend 4 to 6 hours scrubbing unstructured footage back and forth. Crucial moments—such as a forensic contradiction during cross-examination, or an operative bail order—are buried within massive audio streams. Furthermore, in multilingual jurisdictions like India, counsel and witnesses constantly alternate between vernacular languages like Telugu, Tamil, or Hindi and English statutory terms like 'Section 211 IPC'. Manual transcription is slow, expensive, and error-prone. This creates an urgent need for an automated, highly reliable assistive pipeline."</a:t>
            </a:r>
          </a:p>
          <a:p/>
          <a:p>
            <a:r>
              <a:t>💡 [PROFESSOR / VIVA TIP &amp; DEFENSE]:</a:t>
            </a:r>
          </a:p>
          <a:p>
            <a:r>
              <a:t>Emphasize that court audio is unstructured sequential data—unlike text documents, you cannot use 'Ctrl+F' on a raw video file without timestamped speech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Win over the evaluators on your fundamental design decision: why you chose extractive NLP instead of an abstractive LLM like ChatGPT.</a:t>
            </a:r>
          </a:p>
          <a:p/>
          <a:p>
            <a:r>
              <a:t>🗣️ [WHAT TO SAY OUT LOUD - VERBATIM SCRIPT]:</a:t>
            </a:r>
          </a:p>
          <a:p>
            <a:r>
              <a:t>"A central question the panel might ask is: 'Why not simply feed the transcript into GPT-4 or Llama 3 for an abstractive summary?' In consumer applications, abstractive generation is popular. But in the judicial domain, linguistic fidelity is non-negotiable. Generative LLMs have three fatal failure modes: First, hallucinatory synthesis—modifying a conditional phrase can completely invert legal culpability. Second, and most dangerous, claim conflation: an advocate's unproven allegation is frequently summarized as an established court fact! Third, loss of evidentiary traceability: synthesized text cannot be linked back to the exact audio second. Our solution is strictly extractive: we select verbatim transcript sentences with microsecond temporal anchors, guaranteeing zero hallucination and immediate auditability."</a:t>
            </a:r>
          </a:p>
          <a:p/>
          <a:p>
            <a:r>
              <a:t>💡 [PROFESSOR / VIVA TIP &amp; DEFENSE]:</a:t>
            </a:r>
          </a:p>
          <a:p>
            <a:r>
              <a:t>If asked: 'Aren't extractive summaries less fluent than LLMs?' Answer: 'In court proceedings, legal accuracy and auditability supersede creative fluency. A fluent hallucination is a catastrophic legal liability; an exact verbatim excerpt with a clickable timestamp is legally admissible and verifiable.'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45 Seconds]</a:t>
            </a:r>
          </a:p>
          <a:p>
            <a:r>
              <a:t>🎯 [SLIDE OBJECTIVE]: Present the four core pillars clearly and show that safety and legal ethics were built into the architecture from day one.</a:t>
            </a:r>
          </a:p>
          <a:p/>
          <a:p>
            <a:r>
              <a:t>🗣️ [WHAT TO SAY OUT LOUD - VERBATIM SCRIPT]:</a:t>
            </a:r>
          </a:p>
          <a:p>
            <a:r>
              <a:t>"To enforce legal integrity, we engineered our system around four non-negotiable architectural pillars: Pillar 1 is Strictly Extractive Verbatim Selection: we select genuine sentences from the speech stream without modifying words. Pillar 2 is Allegation Segregation: we actively distinguish between advocate arguments and judicial rulings using domain cue weights. Pillar 3 is Microsecond Temporal Traceability: every statement has a global start and end timestamp in seconds for instant evidentiary verification. And Pillar 4 is our Mandatory Assistive Disclaimer: the system is designed as an assistive research tool that keeps human legal professionals in the loop."</a:t>
            </a:r>
          </a:p>
          <a:p/>
          <a:p>
            <a:r>
              <a:t>💡 [PROFESSOR / VIVA TIP &amp; DEFENSE]:</a:t>
            </a:r>
          </a:p>
          <a:p>
            <a:r>
              <a:t>Point out that Pillar 2 and Pillar 3 are direct technical mitigations against the standard pitfalls of generative 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75 Seconds]</a:t>
            </a:r>
          </a:p>
          <a:p>
            <a:r>
              <a:t>🎯 [SLIDE OBJECTIVE]: Walk the panel through the complete engineering pipeline from left to right.</a:t>
            </a:r>
          </a:p>
          <a:p/>
          <a:p>
            <a:r>
              <a:t>🗣️ [WHAT TO SAY OUT LOUD - VERBATIM SCRIPT]:</a:t>
            </a:r>
          </a:p>
          <a:p>
            <a:r>
              <a:t>"This slide illustrates our end-to-end system architecture, composed of six modular stages: Stage 1 is the Acoustic Front-End: raw courtroom video is demuxed via FFmpeg to 16 kHz mono WAV, normalized to -23 LUFS integrated loudness via EBU R128, filtered between 80 Hz and 7.5 kHz, and segmented using conservative Voice Activity Detection. Stage 2 is Multilingual ASR: utilizing faster-whisper powered by CTranslate2 with INT8 quantization, automated language identification, and legal domain prompt conditioning. Stage 3 is Legal Preprocessing: disfluency cleaning with strict negation preservation, abbreviation-protected sentence splitting, and proportional timestamp interpolation. Stage 4 is the Extractive Summarization Engine: implementing three benchmarked algorithms—TF-IDF with position priors, TextRank graph centrality, and Multilingual MiniLM with MMR. Stage 5 is Domain Salience Boosting: statutory cue weighting and allegation filtering. And Stage 6 is Multi-Channel Delivery: asynchronous FastAPI backend, SQLite state queue, and interactive Streamlit UI with synchronized video playback."</a:t>
            </a:r>
          </a:p>
          <a:p/>
          <a:p>
            <a:r>
              <a:t>💡 [PROFESSOR / VIVA TIP &amp; DEFENSE]:</a:t>
            </a:r>
          </a:p>
          <a:p>
            <a:r>
              <a:t>Highlight modularity: each stage communicates via typed Pydantic models, allowing any ASR or summarization model to be swapped or upgraded without breaking downstream components.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Explain why audio preprocessing is critical for ASR accuracy in courtrooms, specifically contrasting peak normalization with EBU R128.</a:t>
            </a:r>
          </a:p>
          <a:p/>
          <a:p>
            <a:r>
              <a:t>🗣️ [WHAT TO SAY OUT LOUD - VERBATIM SCRIPT]:</a:t>
            </a:r>
          </a:p>
          <a:p>
            <a:r>
              <a:t>"In courtroom recordings, audio quality varies drastically between amplified judges and soft-spoken witnesses. In traditional peak normalization, if a judge strikes the gavel or someone hits the desk, that momentary spike hits 0 dBFS. Peak normalization scales the entire audio by that peak, leaving quiet witness testimony completely inaudible to the speech recognizer. We solve this by implementing EBU R128 psychoacoustic loudness normalization targeting -23 LUFS. As seen in the right figure, EBU R128 uses K-weighted frequency filters to amplify speech formants while maintaining a -1.5 dBFS True Peak ceiling. Furthermore, our Voice Activity Detection operates conservatively at -35 dB with 200ms safety padding margins, guaranteeing that quiet monosyllabic witness answers like 'no' or 'guilty' are never accidentally truncated."</a:t>
            </a:r>
          </a:p>
          <a:p/>
          <a:p>
            <a:r>
              <a:t>💡 [PROFESSOR / VIVA TIP &amp; DEFENSE]:</a:t>
            </a:r>
          </a:p>
          <a:p>
            <a:r>
              <a:t>Formula for EBU R128: L_K = -0.691 + 10 log10 (1/T integral z(t)^2 dt). Emphasize K-weighting curves model human ear sensitivity (boosting formants around 2-4 kHz).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Highlight the engineering optimization: faster-whisper, INT8 quantization, RTF of 0.049, and legal prompt conditioning.</a:t>
            </a:r>
          </a:p>
          <a:p/>
          <a:p>
            <a:r>
              <a:t>🗣️ [WHAT TO SAY OUT LOUD - VERBATIM SCRIPT]:</a:t>
            </a:r>
          </a:p>
          <a:p>
            <a:r>
              <a:t>"For speech recognition, standard PyTorch Whisper on CPU is too slow for real-time applications, with a Real-Time Factor around 1.0. We implemented faster-whisper backed by the CTranslate2 C++ inference engine with INT8 quantization. This reduced our Real-Time Factor to 0.049—meaning our system transcribes court audio 20 times faster than real-time playback on a standard CPU without needing an expensive GPU. To handle code-switching and Indian statutory terms—such as 'Section 211 IPC' or 'anticipatory bail'—we condition Whisper's decoder with a legal domain prompt. Furthermore, disabling 'condition_on_previous_text' eliminates the infamous Whisper hallucination loop when dealing with courtroom reverberation."</a:t>
            </a:r>
          </a:p>
          <a:p/>
          <a:p>
            <a:r>
              <a:t>💡 [PROFESSOR / VIVA TIP &amp; DEFENSE]:</a:t>
            </a:r>
          </a:p>
          <a:p>
            <a:r>
              <a:t>Definition of RTF: Real-Time Factor = Processing Time / Audio Duration. RTF = 0.049 means 100 seconds of court audio is transcribed in only 4.9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Explain the legal nuances of text preprocessing: why standard NLP splitters break legal text and how you protected negations.</a:t>
            </a:r>
          </a:p>
          <a:p/>
          <a:p>
            <a:r>
              <a:t>🗣️ [WHAT TO SAY OUT LOUD - VERBATIM SCRIPT]:</a:t>
            </a:r>
          </a:p>
          <a:p>
            <a:r>
              <a:t>"Transcript preprocessing in law requires strict semantic invariants. First, speech disfluency cleaners remove fillers like 'um' and 'uh', but we enforce a hard Negation Lock. Negation words like 'not', 'never', 'nahi', or 'kaadu' can never be removed or simplified, because dropping a single negation inverts legal liability from 'not guilty' to 'guilty'. Second, standard sentence segmentation tools treat every period as an end of sentence. In legal discourse, that disastrously fragments citations like 'Sec. 211 IPC' or 'State v. Arjun'. We engineered an abbreviation-aware boundary segmenter that protects statutory tokens, splits only on true terminal punctuation, and mathematically interpolates character-proportional timestamps for each resulting sentence."</a:t>
            </a:r>
          </a:p>
          <a:p/>
          <a:p>
            <a:r>
              <a:t>💡 [PROFESSOR / VIVA TIP &amp; DEFENSE]:</a:t>
            </a:r>
          </a:p>
          <a:p>
            <a:r>
              <a:t>Timestamp interpolation formula: t_start(S_i) = t_seg_start + (sum length preceding sentences / total seg length) * seg_duration.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75 Seconds]</a:t>
            </a:r>
          </a:p>
          <a:p>
            <a:r>
              <a:t>🎯 [SLIDE OBJECTIVE]: Break down the math and logic of the three extractive algorithms, emphasizing why TextRank outperformed embeddings.</a:t>
            </a:r>
          </a:p>
          <a:p/>
          <a:p>
            <a:r>
              <a:t>🗣️ [WHAT TO SAY OUT LOUD - VERBATIM SCRIPT]:</a:t>
            </a:r>
          </a:p>
          <a:p>
            <a:r>
              <a:t>"To find the optimal extractive mechanism, we benchmarked three distinct mathematical paradigms: Method A is TF-IDF with Judicial Position Priors. In legal proceedings, opening statements frame charges and closing statements contain rulings. We apply a positional multiplier P(i) boosting the first and last 15% of the trial. Method B is TextRank Graph Centrality: we construct an undirected affinity graph where sentences are nodes and edges represent pairwise cosine similarity. PageRank with damping factor d=0.85 computes centrality. Crucially, we add a greedy redundancy penalty mu=0.30 so repetitive advocate assertions don't crowd out diverse testimony. Method C uses 384-dimensional multilingual MiniLM sentence embeddings with Maximal Marginal Relevance (MMR, lambda=0.65) to maximize semantic coverage while penalizing similarity to already-selected points. Regardless of the algorithm, all selected sentences are re-sorted chronologically."</a:t>
            </a:r>
          </a:p>
          <a:p/>
          <a:p>
            <a:r>
              <a:t>💡 [PROFESSOR / VIVA TIP &amp; DEFENSE]:</a:t>
            </a:r>
          </a:p>
          <a:p>
            <a:r>
              <a:t>Why did TextRank outperform MMR? Because courtroom cross-examinations exhibit dense keyword-sharing between opposing counsel and witnesses. Graph centrality directly captures these lexical intersections.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Show how the legal enhancer ensures advocate submissions cannot masquerade as judicial orders.</a:t>
            </a:r>
          </a:p>
          <a:p/>
          <a:p>
            <a:r>
              <a:t>🗣️ [WHAT TO SAY OUT LOUD - VERBATIM SCRIPT]:</a:t>
            </a:r>
          </a:p>
          <a:p>
            <a:r>
              <a:t>"A key innovation of our work is the Legal Domain Salience Booster in src/summarization/legal_enhancer.py. We constructed a curated multilingual legal lexicon across English, Hindi, Telugu, and Tamil. We classify legal utterances into four tiers: First, definitive Judicial Dispositions receive a 2.5x salience boost. Second, Evidentiary Testimony receives a 1.8x boost. Third, Statutory Codes receive a 1.6x boost. And fourth, Advocate Allegations receive a 0.85x penalty. Furthermore, as shown on the right, our pipeline badges each sentence: authoritative court orders are tagged [JUDICIAL_RULING] in green, while advocate submissions are tagged [ADVOCATE_ALLEGATION] in amber. This ensures complete transparency and prevents legal misinterpretation."</a:t>
            </a:r>
          </a:p>
          <a:p/>
          <a:p>
            <a:r>
              <a:t>💡 [PROFESSOR / VIVA TIP &amp; DEFENSE]:</a:t>
            </a:r>
          </a:p>
          <a:p>
            <a:r>
              <a:t>Point out that the multilingual triggers cover vernacular terms like 'faisla' in Hindi, 'teerpu' in Telugu, and 'theerppu' in Tamil.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Present the experimental corpus, highlighting linguistic and acoustic diversity across 10 cases.</a:t>
            </a:r>
          </a:p>
          <a:p/>
          <a:p>
            <a:r>
              <a:t>🗣️ [WHAT TO SAY OUT LOUD - VERBATIM SCRIPT]:</a:t>
            </a:r>
          </a:p>
          <a:p>
            <a:r>
              <a:t>"To validate our system rigorously, we curated an empirical testbed comprising 10 diverse courtroom proceeding recordings totaling over 42 minutes across four languages: English, Hindi, Telugu, and Tamil. As shown in the table, the corpus was split into Development and Test sets. It reflects genuine real-world acoustic variance: from studio-quality cross-examinations like 'My Cousin Vinny' and 'Legally Blonde', to realistic ambient courtroom reverberation in 'Court', historical 1952 mono recordings in 'Parasakthi', and dynamic Indian regional proceedings like 'Naandhi' and 'DJ Tillu'. Each case was human-annotated according to our gold-standard protocol to produce verified reference transcripts and sentence salience scores."</a:t>
            </a:r>
          </a:p>
          <a:p/>
          <a:p>
            <a:r>
              <a:t>💡 [PROFESSOR / VIVA TIP &amp; DEFENSE]:</a:t>
            </a:r>
          </a:p>
          <a:p>
            <a:r>
              <a:t>Mention that the dataset includes both formal courtroom procedure and colloquial conversational legal speech to test system robustness against code-switching and noise.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75 Seconds]</a:t>
            </a:r>
          </a:p>
          <a:p>
            <a:r>
              <a:t>🎯 [SLIDE OBJECTIVE]: Present the core results clearly: TextRank graph centrality wins across Sentence F1, ROUGE, and BERTScore.</a:t>
            </a:r>
          </a:p>
          <a:p/>
          <a:p>
            <a:r>
              <a:t>🗣️ [WHAT TO SAY OUT LOUD - VERBATIM SCRIPT]:</a:t>
            </a:r>
          </a:p>
          <a:p>
            <a:r>
              <a:t>"Now let us look at the empirical evaluation results. We evaluated all three summarization methods against our human-annotated gold-standard references at a 25% compression budget with legal boosting enabled. As shown in the comparative bar chart, Method B—TextRank Graph Centrality—achieved the highest overall performance, with a Sentence F1 of 0.614, ROUGE-1 of 0.568, and ROUGE-L of 0.518, beating both TF-IDF and Embedding MMR. The fundamental reason TextRank excels in courtrooms is discursive structure: judicial trials are adversarial dialogues where counsel and witnesses repeatedly invoke shared legal keywords and case facts. This term-sharing creates dense lexical affinity clusters in the TextRank graph, allowing PageRank to surface pivotal judicial sentences reliably."</a:t>
            </a:r>
          </a:p>
          <a:p/>
          <a:p>
            <a:r>
              <a:t>💡 [PROFESSOR / VIVA TIP &amp; DEFENSE]:</a:t>
            </a:r>
          </a:p>
          <a:p>
            <a:r>
              <a:t>Metrics explained: Sentence F1 measures verbatim sentence selection overlap with human judges. ROUGE-L measures longest common subsequence. BERTScore measures semantic vector similarity.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70 Seconds]</a:t>
            </a:r>
          </a:p>
          <a:p>
            <a:r>
              <a:t>🎯 [SLIDE OBJECTIVE]: Walk the panel through the two ablation studies, proving that your domain additions produced quantifiable gains.</a:t>
            </a:r>
          </a:p>
          <a:p/>
          <a:p>
            <a:r>
              <a:t>🗣️ [WHAT TO SAY OUT LOUD - VERBATIM SCRIPT]:</a:t>
            </a:r>
          </a:p>
          <a:p>
            <a:r>
              <a:t>"To demonstrate academic rigor, we performed two critical ablation studies, illustrated on this slide. In Ablation 1 on the left, we isolated the impact of our Legal Domain Salience Booster on TextRank. When the booster was ablated or turned off, Sentence F1 dropped to 0.532. Activating our statutory cue weighting produced an immediate 8.2 percentage point gain in Sentence F1 to 0.614. Without the domain booster, high-frequency procedural banter crowded out concise, authoritative judicial orders. In Ablation 2 on the right, we evaluated compression ratio sensitivity across 15%, 25%, and 35% budgets. An ultra-concise 15% budget yields high precision (0.722) but misses key issues. A 35% budget increases recall (0.712) but introduces redundant dialogue. A 25% compression budget is Pareto-optimal, maximizing the harmonic F1 score at 0.614."</a:t>
            </a:r>
          </a:p>
          <a:p/>
          <a:p>
            <a:r>
              <a:t>💡 [PROFESSOR / VIVA TIP &amp; DEFENSE]:</a:t>
            </a:r>
          </a:p>
          <a:p>
            <a:r>
              <a:t>Remember the key number: '+8.2% Sentence F1 gain from Legal Domain Boosting'. This directly answers whether your custom domain heuristics actually helped.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Showcase the full-stack engineering maturity: asynchronous API, job queue, Streamlit dashboard, live simulation, and Docker.</a:t>
            </a:r>
          </a:p>
          <a:p/>
          <a:p>
            <a:r>
              <a:t>🗣️ [WHAT TO SAY OUT LOUD - VERBATIM SCRIPT]:</a:t>
            </a:r>
          </a:p>
          <a:p>
            <a:r>
              <a:t>"Moving from algorithmic design to production engineering, this project was architected as a complete multi-tier system. The backend is built with FastAPI, providing asynchronous REST endpoints for submitting court audio jobs and polling progress. A local SQLite database manages job state transitions from pending to completed. On the frontend, our interactive Streamlit web application provides synchronized video playback, side-by-side multilingual views, and one-click PDF, JSON, and TXT report downloads. For live courtroom hearings, we engineered a streaming simulator that ingests audio in 15-second sliding buffers, updating a running summary dynamically with step latency under 2 seconds. The entire stack is containerized via Docker and verified by automated GitHub Actions CI."</a:t>
            </a:r>
          </a:p>
          <a:p/>
          <a:p>
            <a:r>
              <a:t>💡 [PROFESSOR / VIVA TIP &amp; DEFENSE]:</a:t>
            </a:r>
          </a:p>
          <a:p>
            <a:r>
              <a:t>If asked about scalability: explain that the FastAPI asynchronous job queue decouples long-running speech transcription from the HTTP request cycle, preventing client timeouts.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75 Seconds]</a:t>
            </a:r>
          </a:p>
          <a:p>
            <a:r>
              <a:t>🎯 [SLIDE OBJECTIVE]: Guide the panel through the UI, demonstrating the video player, telemetry metrics, and the green/amber badges.</a:t>
            </a:r>
          </a:p>
          <a:p/>
          <a:p>
            <a:r>
              <a:t>🗣️ [WHAT TO SAY OUT LOUD - VERBATIM SCRIPT]:</a:t>
            </a:r>
          </a:p>
          <a:p>
            <a:r>
              <a:t>"This slide showcases our working Streamlit web interface during a real Telugu courtroom proceeding from our dataset—the Section 211 IPC police accountability motion in 'Naandhi'. At the top, you notice our prominent Mandatory Legal Disclaimer banner. Below it, real-time telemetry displays the detected language—Telugu with 96.5% confidence—total duration of 336 seconds, and an end-to-end processing latency of only 7.2 seconds. On the left is the synchronized video player. On the right is the key extractive summary. Notice the top card: badged in green as [JUDICIAL_RULING], showing both the Telugu original and English translation. Below it, notice the defense argument badged in amber as [ADVOCATE_ALLEGATION]. When a lawyer clicks on the timestamp [071.0s - 095.0s], the media player on the left automatically scrubs to that exact second, allowing instantaneous verification of the judge's spoken ruling."</a:t>
            </a:r>
          </a:p>
          <a:p/>
          <a:p>
            <a:r>
              <a:t>💡 [PROFESSOR / VIVA TIP &amp; DEFENSE]:</a:t>
            </a:r>
          </a:p>
          <a:p>
            <a:r>
              <a:t>Offer to show the running browser app right now during the review if they would like to see the live video scrub in 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Demonstrate intellectual honesty and academic maturity by proactively acknowledging real limitations and ethical safeguards.</a:t>
            </a:r>
          </a:p>
          <a:p/>
          <a:p>
            <a:r>
              <a:t>🗣️ [WHAT TO SAY OUT LOUD - VERBATIM SCRIPT]:</a:t>
            </a:r>
          </a:p>
          <a:p>
            <a:r>
              <a:t>"An honest assessment of limitations is vital for academic integrity. We identify three boundary conditions: First, dialectal variability: while speech recognition performs exceptionally on formal court Hindi and English, word error rate increases on rapid regional slang, such as colloquial Telugu in 'DJ Tillu'. Second, the current implementation relies on lexical patterns rather than neural acoustic diarization to distinguish speakers. Third, and most importantly, our ethical mandate: this software is engineered strictly as an assistive research tool. Automated AI summaries must never replace formal judicial review. To enforce this, a legal disclaimer is permanently embedded in the UI header and all exported PDF reports."</a:t>
            </a:r>
          </a:p>
          <a:p/>
          <a:p>
            <a:r>
              <a:t>💡 [PROFESSOR / VIVA TIP &amp; DEFENSE]:</a:t>
            </a:r>
          </a:p>
          <a:p>
            <a:r>
              <a:t>Evaluators love when students honestly discuss limitations before being asked. It demonstrates that you understand the real-world deployment challenges of your system.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Deliver a confident, articulate conclusion summarizing your achievements and future roadmap.</a:t>
            </a:r>
          </a:p>
          <a:p/>
          <a:p>
            <a:r>
              <a:t>🗣️ [WHAT TO SAY OUT LOUD - VERBATIM SCRIPT]:</a:t>
            </a:r>
          </a:p>
          <a:p>
            <a:r>
              <a:t>"In conclusion, this capstone project successfully demonstrates a fully functional, reproducible, and legally safe speech-to-summary system for multilingual court proceedings. By enforcing strict extractiveness, microsecond temporal anchoring, and legal domain cue weighting, we overcome the catastrophic hallucination risks of generative LLMs while maintaining high operational throughput—achieving an RTF of 0.049 on commodity CPU hardware. For future work, we plan to integrate PyAnnote neural speaker diarization for voice-based role attribution, and deploy real-time WebSocket streaming. Our complete modular codebase, evaluation benchmarks, and interactive application stand ready for real-world assistive testing. Thank you, and I look forward to your questions."</a:t>
            </a:r>
          </a:p>
          <a:p/>
          <a:p>
            <a:r>
              <a:t>💡 [PROFESSOR / VIVA TIP &amp; DEFENSE]:</a:t>
            </a:r>
          </a:p>
          <a:p>
            <a:r>
              <a:t>Maintain eye contact and smile warmly. Conclude promptly within your allocated time limit.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As needed during Q&amp;A]</a:t>
            </a:r>
          </a:p>
          <a:p>
            <a:r>
              <a:t>🎯 [SLIDE OBJECTIVE]: Give yourself instant reference during the defense review if professors challenge your technical choices.</a:t>
            </a:r>
          </a:p>
          <a:p/>
          <a:p>
            <a:r>
              <a:t>🗣️ [WHAT TO SAY OUT LOUD - VERBATIM SCRIPT]:</a:t>
            </a:r>
          </a:p>
          <a:p>
            <a:r>
              <a:t>"This slide serves as an immediate reference for the panel's technical inquiries, covering our core justifications: Extractive fidelity vs LLM hallucination, EBU R128 psychoacoustic normalization vs peak normalization, TextRank graph centrality dynamics, and Whisper repetition suppression."</a:t>
            </a:r>
          </a:p>
          <a:p/>
          <a:p>
            <a:r>
              <a:t>💡 [PROFESSOR / VIVA TIP &amp; DEFENSE]:</a:t>
            </a:r>
          </a:p>
          <a:p>
            <a:r>
              <a:t>If asked any of these questions, keep your answer under 30 seconds. State the exact engineering reason with confidence.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2286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515600" cy="365760"/>
          </a:xfrm>
          <a:prstGeom prst="rect">
            <a:avLst/>
          </a:prstGeom>
          <a:noFill/>
        </p:spPr>
        <p:txBody>
          <a:bodyPr wrap="none">
            <a:spAutoFit/>
          </a:bodyPr>
          <a:lstStyle/>
          <a:p>
            <a:pPr>
              <a:defRPr sz="1200" b="1">
                <a:solidFill>
                  <a:srgbClr val="38BDF8"/>
                </a:solidFill>
              </a:defRPr>
            </a:pPr>
            <a:r>
              <a:t>ACADEMIC CAPSTONE PROJECT • SPEECH AND LANGUAGE PROCESSING</a:t>
            </a:r>
          </a:p>
        </p:txBody>
      </p:sp>
      <p:sp>
        <p:nvSpPr>
          <p:cNvPr id="5" name="TextBox 4"/>
          <p:cNvSpPr txBox="1"/>
          <p:nvPr/>
        </p:nvSpPr>
        <p:spPr>
          <a:xfrm>
            <a:off x="731520" y="1371600"/>
            <a:ext cx="10698480" cy="1828800"/>
          </a:xfrm>
          <a:prstGeom prst="rect">
            <a:avLst/>
          </a:prstGeom>
          <a:noFill/>
        </p:spPr>
        <p:txBody>
          <a:bodyPr wrap="square">
            <a:spAutoFit/>
          </a:bodyPr>
          <a:lstStyle/>
          <a:p>
            <a:pPr>
              <a:defRPr sz="3200" b="1">
                <a:solidFill>
                  <a:srgbClr val="FFFFFF"/>
                </a:solidFill>
              </a:defRPr>
            </a:pPr>
            <a:r>
              <a:t>Real-Time Multilingual Court Proceeding Summarization System</a:t>
            </a:r>
          </a:p>
          <a:p>
            <a:pPr>
              <a:defRPr sz="1800" b="1">
                <a:solidFill>
                  <a:srgbClr val="F59E0B"/>
                </a:solidFill>
              </a:defRPr>
            </a:pPr>
            <a:r>
              <a:t>Speech Recognition &amp; Strictly Extractive Summarization with Temporal Anchoring</a:t>
            </a:r>
          </a:p>
        </p:txBody>
      </p:sp>
      <p:sp>
        <p:nvSpPr>
          <p:cNvPr id="6" name="Rounded Rectangle 5"/>
          <p:cNvSpPr/>
          <p:nvPr/>
        </p:nvSpPr>
        <p:spPr>
          <a:xfrm>
            <a:off x="731520" y="3291840"/>
            <a:ext cx="2514600" cy="4114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E2E8F0"/>
                </a:solidFill>
              </a:defRPr>
            </a:pPr>
            <a:r>
              <a:t>Strictly Extractive (Zero Hallucination)</a:t>
            </a:r>
          </a:p>
        </p:txBody>
      </p:sp>
      <p:sp>
        <p:nvSpPr>
          <p:cNvPr id="7" name="Rounded Rectangle 6"/>
          <p:cNvSpPr/>
          <p:nvPr/>
        </p:nvSpPr>
        <p:spPr>
          <a:xfrm>
            <a:off x="3383280" y="3291840"/>
            <a:ext cx="2514600" cy="411480"/>
          </a:xfrm>
          <a:prstGeom prst="roundRect">
            <a:avLst/>
          </a:prstGeom>
          <a:solidFill>
            <a:srgbClr val="1E293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E2E8F0"/>
                </a:solidFill>
              </a:defRPr>
            </a:pPr>
            <a:r>
              <a:t>Allegation vs Ruling Separation</a:t>
            </a:r>
          </a:p>
        </p:txBody>
      </p:sp>
      <p:sp>
        <p:nvSpPr>
          <p:cNvPr id="8" name="Rounded Rectangle 7"/>
          <p:cNvSpPr/>
          <p:nvPr/>
        </p:nvSpPr>
        <p:spPr>
          <a:xfrm>
            <a:off x="6035040" y="3291840"/>
            <a:ext cx="2514600" cy="4114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E2E8F0"/>
                </a:solidFill>
              </a:defRPr>
            </a:pPr>
            <a:r>
              <a:t>Microsecond Video Anchors</a:t>
            </a:r>
          </a:p>
        </p:txBody>
      </p:sp>
      <p:sp>
        <p:nvSpPr>
          <p:cNvPr id="9" name="Rounded Rectangle 8"/>
          <p:cNvSpPr/>
          <p:nvPr/>
        </p:nvSpPr>
        <p:spPr>
          <a:xfrm>
            <a:off x="8686800" y="3291840"/>
            <a:ext cx="2514600" cy="4114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E2E8F0"/>
                </a:solidFill>
              </a:defRPr>
            </a:pPr>
            <a:r>
              <a:t>Multilingual: EN, HI, TE, TA</a:t>
            </a:r>
          </a:p>
        </p:txBody>
      </p:sp>
      <p:sp>
        <p:nvSpPr>
          <p:cNvPr id="10" name="Rounded Rectangle 9"/>
          <p:cNvSpPr/>
          <p:nvPr/>
        </p:nvSpPr>
        <p:spPr>
          <a:xfrm>
            <a:off x="731520" y="4023360"/>
            <a:ext cx="106984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65760" tIns="274320"/>
          <a:lstStyle/>
          <a:p>
            <a:pPr algn="ctr">
              <a:defRPr sz="1300" b="1">
                <a:solidFill>
                  <a:srgbClr val="38BDF8"/>
                </a:solidFill>
              </a:defRPr>
            </a:pPr>
            <a:r>
              <a:t>ACADEMIC DEFENSE &amp; PROJECT REVIEW</a:t>
            </a:r>
          </a:p>
          <a:p>
            <a:pPr>
              <a:defRPr sz="1150">
                <a:solidFill>
                  <a:srgbClr val="FFFFFF"/>
                </a:solidFill>
              </a:defRPr>
            </a:pPr>
            <a:r>
              <a:t>• Candidate / Presenter: Final Year Capstone Project Researcher</a:t>
            </a:r>
          </a:p>
          <a:p>
            <a:pPr>
              <a:defRPr sz="1100">
                <a:solidFill>
                  <a:srgbClr val="E2E8F0"/>
                </a:solidFill>
              </a:defRPr>
            </a:pPr>
            <a:r>
              <a:t>• Domain: Judicial NLP, Multilingual Speech Processing &amp; Assistive Systems</a:t>
            </a:r>
          </a:p>
          <a:p>
            <a:pPr>
              <a:defRPr sz="1100">
                <a:solidFill>
                  <a:srgbClr val="F59E0B"/>
                </a:solidFill>
              </a:defRPr>
            </a:pPr>
            <a:r>
              <a:t>• Core Stack: faster-whisper (CTranslate2 INT8) | TextRank &amp; MMR | FastAPI | Streamlit | EBU R128</a:t>
            </a:r>
          </a:p>
          <a:p>
            <a:pPr>
              <a:defRPr sz="1100">
                <a:solidFill>
                  <a:srgbClr val="10B981"/>
                </a:solidFill>
              </a:defRPr>
            </a:pPr>
            <a:r>
              <a:t>• Key Performance: Real-Time Factor (RTF) = 0.049 on CPU (20x faster than real-time playback)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PROBLEM STATEMENT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Judicial Problem Statement &amp; Real-World Operational Bottlenecks</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Why automated courtroom summarization is an urgent necessity in modern digital justice</a:t>
            </a:r>
          </a:p>
        </p:txBody>
      </p:sp>
      <p:sp>
        <p:nvSpPr>
          <p:cNvPr id="6" name="Rounded Rectangle 5"/>
          <p:cNvSpPr/>
          <p:nvPr/>
        </p:nvSpPr>
        <p:spPr>
          <a:xfrm>
            <a:off x="731520" y="1828800"/>
            <a:ext cx="329184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400" b="1">
                <a:solidFill>
                  <a:srgbClr val="EF4444"/>
                </a:solidFill>
              </a:defRPr>
            </a:pPr>
            <a:r>
              <a:t>1. Data Volume Explosion</a:t>
            </a:r>
          </a:p>
          <a:p>
            <a:pPr>
              <a:spcBef>
                <a:spcPts val="1200"/>
              </a:spcBef>
              <a:defRPr sz="1100">
                <a:solidFill>
                  <a:srgbClr val="E2E8F0"/>
                </a:solidFill>
              </a:defRPr>
            </a:pPr>
            <a:r>
              <a:t>• Supreme Courts &amp; High Courts record hundreds of hours daily.</a:t>
            </a:r>
          </a:p>
          <a:p>
            <a:pPr>
              <a:spcBef>
                <a:spcPts val="1200"/>
              </a:spcBef>
              <a:defRPr sz="1100">
                <a:solidFill>
                  <a:srgbClr val="E2E8F0"/>
                </a:solidFill>
              </a:defRPr>
            </a:pPr>
            <a:r>
              <a:t>• Contested hearings easily span 3 to 6 hours per trial.</a:t>
            </a:r>
          </a:p>
          <a:p>
            <a:pPr>
              <a:spcBef>
                <a:spcPts val="1200"/>
              </a:spcBef>
              <a:defRPr sz="1100">
                <a:solidFill>
                  <a:srgbClr val="E2E8F0"/>
                </a:solidFill>
              </a:defRPr>
            </a:pPr>
            <a:r>
              <a:t>• Video recordings are unstructured: no search, index, or chapter markers.</a:t>
            </a:r>
          </a:p>
        </p:txBody>
      </p:sp>
      <p:sp>
        <p:nvSpPr>
          <p:cNvPr id="7" name="Rounded Rectangle 6"/>
          <p:cNvSpPr/>
          <p:nvPr/>
        </p:nvSpPr>
        <p:spPr>
          <a:xfrm>
            <a:off x="4434840" y="1828800"/>
            <a:ext cx="32918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400" b="1">
                <a:solidFill>
                  <a:srgbClr val="F59E0B"/>
                </a:solidFill>
              </a:defRPr>
            </a:pPr>
            <a:r>
              <a:t>2. Operational Human Bottleneck</a:t>
            </a:r>
          </a:p>
          <a:p>
            <a:pPr>
              <a:spcBef>
                <a:spcPts val="1200"/>
              </a:spcBef>
              <a:defRPr sz="1100">
                <a:solidFill>
                  <a:srgbClr val="E2E8F0"/>
                </a:solidFill>
              </a:defRPr>
            </a:pPr>
            <a:r>
              <a:t>• Law clerks and advocates spend hours scrubbing videos manually.</a:t>
            </a:r>
          </a:p>
          <a:p>
            <a:pPr>
              <a:spcBef>
                <a:spcPts val="1200"/>
              </a:spcBef>
              <a:defRPr sz="1100">
                <a:solidFill>
                  <a:srgbClr val="E2E8F0"/>
                </a:solidFill>
              </a:defRPr>
            </a:pPr>
            <a:r>
              <a:t>• High human transcription turnaround time (24–72 hours).</a:t>
            </a:r>
          </a:p>
          <a:p>
            <a:pPr>
              <a:spcBef>
                <a:spcPts val="1200"/>
              </a:spcBef>
              <a:defRPr sz="1100">
                <a:solidFill>
                  <a:srgbClr val="E2E8F0"/>
                </a:solidFill>
              </a:defRPr>
            </a:pPr>
            <a:r>
              <a:t>• Risk of missing crucial cross-examination contradictions or bail conditions.</a:t>
            </a:r>
          </a:p>
        </p:txBody>
      </p:sp>
      <p:sp>
        <p:nvSpPr>
          <p:cNvPr id="8" name="Rounded Rectangle 7"/>
          <p:cNvSpPr/>
          <p:nvPr/>
        </p:nvSpPr>
        <p:spPr>
          <a:xfrm>
            <a:off x="8138160" y="1828800"/>
            <a:ext cx="32918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400" b="1">
                <a:solidFill>
                  <a:srgbClr val="38BDF8"/>
                </a:solidFill>
              </a:defRPr>
            </a:pPr>
            <a:r>
              <a:t>3. Multilingual &amp; Acoustic Realities</a:t>
            </a:r>
          </a:p>
          <a:p>
            <a:pPr>
              <a:spcBef>
                <a:spcPts val="1200"/>
              </a:spcBef>
              <a:defRPr sz="1100">
                <a:solidFill>
                  <a:srgbClr val="E2E8F0"/>
                </a:solidFill>
              </a:defRPr>
            </a:pPr>
            <a:r>
              <a:t>• Judicial proceedings feature heavy code-switching (e.g. Hindi/Telugu with English citations).</a:t>
            </a:r>
          </a:p>
          <a:p>
            <a:pPr>
              <a:spcBef>
                <a:spcPts val="1200"/>
              </a:spcBef>
              <a:defRPr sz="1100">
                <a:solidFill>
                  <a:srgbClr val="E2E8F0"/>
                </a:solidFill>
              </a:defRPr>
            </a:pPr>
            <a:r>
              <a:t>• Ambient acoustics: echoey halls, gavel strikes, and distant witness speech.</a:t>
            </a:r>
          </a:p>
          <a:p>
            <a:pPr>
              <a:spcBef>
                <a:spcPts val="1200"/>
              </a:spcBef>
              <a:defRPr sz="1100">
                <a:solidFill>
                  <a:srgbClr val="E2E8F0"/>
                </a:solidFill>
              </a:defRPr>
            </a:pPr>
            <a:r>
              <a:t>• Existing generic tools fail completely on regional legal dialects.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RESEARCH GAP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The Critical Research Gap: Why NOT Generative LLMs?</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Examining the catastrophic failure modes of abstractive generative AI in judicial contexts</a:t>
            </a:r>
          </a:p>
        </p:txBody>
      </p:sp>
      <p:sp>
        <p:nvSpPr>
          <p:cNvPr id="6" name="Rounded Rectangle 5"/>
          <p:cNvSpPr/>
          <p:nvPr/>
        </p:nvSpPr>
        <p:spPr>
          <a:xfrm>
            <a:off x="731520" y="1828800"/>
            <a:ext cx="521208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EF4444"/>
                </a:solidFill>
              </a:defRPr>
            </a:pPr>
            <a:r>
              <a:t>FATAL FLAWS OF GENERATIVE LLMs (e.g. GPT-4, Llama 3)</a:t>
            </a:r>
          </a:p>
          <a:p>
            <a:pPr>
              <a:spcBef>
                <a:spcPts val="1000"/>
              </a:spcBef>
              <a:defRPr sz="1150" b="1">
                <a:solidFill>
                  <a:srgbClr val="FFFFFF"/>
                </a:solidFill>
              </a:defRPr>
            </a:pPr>
            <a:r>
              <a:t>❌ 1. Hallucinatory Synthesis</a:t>
            </a:r>
          </a:p>
          <a:p>
            <a:pPr>
              <a:defRPr sz="1050">
                <a:solidFill>
                  <a:srgbClr val="E2E8F0"/>
                </a:solidFill>
              </a:defRPr>
            </a:pPr>
            <a:r>
              <a:t>Generative LLMs invent plausible-sounding details or invert legal meaning by substituting inexact legal synonyms.</a:t>
            </a:r>
          </a:p>
          <a:p>
            <a:pPr>
              <a:spcBef>
                <a:spcPts val="1000"/>
              </a:spcBef>
              <a:defRPr sz="1150" b="1">
                <a:solidFill>
                  <a:srgbClr val="FFFFFF"/>
                </a:solidFill>
              </a:defRPr>
            </a:pPr>
            <a:r>
              <a:t>❌ 2. Catastrophic Claim Conflation</a:t>
            </a:r>
          </a:p>
          <a:p>
            <a:pPr>
              <a:defRPr sz="1050">
                <a:solidFill>
                  <a:srgbClr val="E2E8F0"/>
                </a:solidFill>
              </a:defRPr>
            </a:pPr>
            <a:r>
              <a:t>An advocate's unproven allegation (e.g., 'The accused committed fraud') is routinely summarized as a confirmed court finding.</a:t>
            </a:r>
          </a:p>
          <a:p>
            <a:pPr>
              <a:spcBef>
                <a:spcPts val="1000"/>
              </a:spcBef>
              <a:defRPr sz="1150" b="1">
                <a:solidFill>
                  <a:srgbClr val="FFFFFF"/>
                </a:solidFill>
              </a:defRPr>
            </a:pPr>
            <a:r>
              <a:t>❌ 3. Loss of Evidentiary Traceability</a:t>
            </a:r>
          </a:p>
          <a:p>
            <a:pPr>
              <a:defRPr sz="1050">
                <a:solidFill>
                  <a:srgbClr val="E2E8F0"/>
                </a:solidFill>
              </a:defRPr>
            </a:pPr>
            <a:r>
              <a:t>Synthesized text has no 1-to-1 anchor to the audio. A judge cannot verify the original tone, hesitation, or exact spoken words without re-listening.</a:t>
            </a:r>
          </a:p>
        </p:txBody>
      </p:sp>
      <p:sp>
        <p:nvSpPr>
          <p:cNvPr id="7" name="Rounded Rectangle 6"/>
          <p:cNvSpPr/>
          <p:nvPr/>
        </p:nvSpPr>
        <p:spPr>
          <a:xfrm>
            <a:off x="6217920" y="1828800"/>
            <a:ext cx="52120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0B981"/>
                </a:solidFill>
              </a:defRPr>
            </a:pPr>
            <a:r>
              <a:t>OUR STRICTLY EXTRACTIVE PARADIGM</a:t>
            </a:r>
          </a:p>
          <a:p>
            <a:pPr>
              <a:spcBef>
                <a:spcPts val="1000"/>
              </a:spcBef>
              <a:defRPr sz="1150" b="1">
                <a:solidFill>
                  <a:srgbClr val="FFFFFF"/>
                </a:solidFill>
              </a:defRPr>
            </a:pPr>
            <a:r>
              <a:t>✅ 1. Zero Hallucination Guarantee</a:t>
            </a:r>
          </a:p>
          <a:p>
            <a:pPr>
              <a:defRPr sz="1050">
                <a:solidFill>
                  <a:srgbClr val="E2E8F0"/>
                </a:solidFill>
              </a:defRPr>
            </a:pPr>
            <a:r>
              <a:t>The summary consists 100% of verbatim transcript sentences. The model never invents, paraphrases, or merges words.</a:t>
            </a:r>
          </a:p>
          <a:p>
            <a:pPr>
              <a:spcBef>
                <a:spcPts val="1000"/>
              </a:spcBef>
              <a:defRPr sz="1150" b="1">
                <a:solidFill>
                  <a:srgbClr val="FFFFFF"/>
                </a:solidFill>
              </a:defRPr>
            </a:pPr>
            <a:r>
              <a:t>✅ 2. Explicit Provenance Tagging</a:t>
            </a:r>
          </a:p>
          <a:p>
            <a:pPr>
              <a:defRPr sz="1050">
                <a:solidFill>
                  <a:srgbClr val="E2E8F0"/>
                </a:solidFill>
              </a:defRPr>
            </a:pPr>
            <a:r>
              <a:t>Advocate submissions receive an allegation tag ([ADVOCATE_ALLEGATION]), strictly separated from binding orders ([JUDICIAL_RULING]).</a:t>
            </a:r>
          </a:p>
          <a:p>
            <a:pPr>
              <a:spcBef>
                <a:spcPts val="1000"/>
              </a:spcBef>
              <a:defRPr sz="1150" b="1">
                <a:solidFill>
                  <a:srgbClr val="FFFFFF"/>
                </a:solidFill>
              </a:defRPr>
            </a:pPr>
            <a:r>
              <a:t>✅ 3. Microsecond Temporal Hyperlinks</a:t>
            </a:r>
          </a:p>
          <a:p>
            <a:pPr>
              <a:defRPr sz="1050">
                <a:solidFill>
                  <a:srgbClr val="E2E8F0"/>
                </a:solidFill>
              </a:defRPr>
            </a:pPr>
            <a:r>
              <a:t>Every single sentence links directly to its [start_time, end_time], allowing instant one-click video audio playback verification.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SYSTEM DESIGN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Core Design Principles &amp; Safety Mandates</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The four non-negotiable architectural pillars governing the entire summarization pipeline</a:t>
            </a:r>
          </a:p>
        </p:txBody>
      </p:sp>
      <p:sp>
        <p:nvSpPr>
          <p:cNvPr id="6" name="Rounded Rectangle 5"/>
          <p:cNvSpPr/>
          <p:nvPr/>
        </p:nvSpPr>
        <p:spPr>
          <a:xfrm>
            <a:off x="731520" y="1828800"/>
            <a:ext cx="246888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82880" rIns="182880" tIns="274320"/>
          <a:lstStyle/>
          <a:p>
            <a:pPr algn="ctr">
              <a:defRPr sz="1300" b="1">
                <a:solidFill>
                  <a:srgbClr val="38BDF8"/>
                </a:solidFill>
              </a:defRPr>
            </a:pPr>
            <a:r>
              <a:t>Pillar 1: Strictly Extractive</a:t>
            </a:r>
          </a:p>
          <a:p>
            <a:pPr>
              <a:spcBef>
                <a:spcPts val="400"/>
              </a:spcBef>
              <a:defRPr sz="1000" i="1">
                <a:solidFill>
                  <a:srgbClr val="94A3B8"/>
                </a:solidFill>
              </a:defRPr>
            </a:pPr>
            <a:r>
              <a:t>Verbatim Sentence Selection</a:t>
            </a:r>
          </a:p>
          <a:p>
            <a:pPr>
              <a:spcBef>
                <a:spcPts val="1600"/>
              </a:spcBef>
              <a:defRPr sz="1050">
                <a:solidFill>
                  <a:srgbClr val="E2E8F0"/>
                </a:solidFill>
              </a:defRPr>
            </a:pPr>
            <a:r>
              <a:t>The system selects complete, real transcript sentences and NEVER invents, paraphrases, or hallucinates text. Preserves original grammar and statutory citations.</a:t>
            </a:r>
          </a:p>
        </p:txBody>
      </p:sp>
      <p:sp>
        <p:nvSpPr>
          <p:cNvPr id="7" name="Rounded Rectangle 6"/>
          <p:cNvSpPr/>
          <p:nvPr/>
        </p:nvSpPr>
        <p:spPr>
          <a:xfrm>
            <a:off x="3474720" y="1828800"/>
            <a:ext cx="246888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182880" rIns="182880" tIns="274320"/>
          <a:lstStyle/>
          <a:p>
            <a:pPr algn="ctr">
              <a:defRPr sz="1300" b="1">
                <a:solidFill>
                  <a:srgbClr val="EF4444"/>
                </a:solidFill>
              </a:defRPr>
            </a:pPr>
            <a:r>
              <a:t>Pillar 2: Allegation Segregation</a:t>
            </a:r>
          </a:p>
          <a:p>
            <a:pPr>
              <a:spcBef>
                <a:spcPts val="400"/>
              </a:spcBef>
              <a:defRPr sz="1000" i="1">
                <a:solidFill>
                  <a:srgbClr val="94A3B8"/>
                </a:solidFill>
              </a:defRPr>
            </a:pPr>
            <a:r>
              <a:t>Discursive Role Classification</a:t>
            </a:r>
          </a:p>
          <a:p>
            <a:pPr>
              <a:spcBef>
                <a:spcPts val="1600"/>
              </a:spcBef>
              <a:defRPr sz="1050">
                <a:solidFill>
                  <a:srgbClr val="E2E8F0"/>
                </a:solidFill>
              </a:defRPr>
            </a:pPr>
            <a:r>
              <a:t>Statements by advocates are tagged [ADVOCATE_ALLEGATION] and penalized, while authoritative bench orders are tagged [JUDICIAL_RULING] and boosted 2.5x.</a:t>
            </a:r>
          </a:p>
        </p:txBody>
      </p:sp>
      <p:sp>
        <p:nvSpPr>
          <p:cNvPr id="8" name="Rounded Rectangle 7"/>
          <p:cNvSpPr/>
          <p:nvPr/>
        </p:nvSpPr>
        <p:spPr>
          <a:xfrm>
            <a:off x="6217920" y="1828800"/>
            <a:ext cx="24688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274320"/>
          <a:lstStyle/>
          <a:p>
            <a:pPr algn="ctr">
              <a:defRPr sz="1300" b="1">
                <a:solidFill>
                  <a:srgbClr val="10B981"/>
                </a:solidFill>
              </a:defRPr>
            </a:pPr>
            <a:r>
              <a:t>Pillar 3: Temporal Traceability</a:t>
            </a:r>
          </a:p>
          <a:p>
            <a:pPr>
              <a:spcBef>
                <a:spcPts val="400"/>
              </a:spcBef>
              <a:defRPr sz="1000" i="1">
                <a:solidFill>
                  <a:srgbClr val="94A3B8"/>
                </a:solidFill>
              </a:defRPr>
            </a:pPr>
            <a:r>
              <a:t>Microsecond Audio/Video Anchors</a:t>
            </a:r>
          </a:p>
          <a:p>
            <a:pPr>
              <a:spcBef>
                <a:spcPts val="1600"/>
              </a:spcBef>
              <a:defRPr sz="1050">
                <a:solidFill>
                  <a:srgbClr val="E2E8F0"/>
                </a:solidFill>
              </a:defRPr>
            </a:pPr>
            <a:r>
              <a:t>Every summary sentence is permanently anchored to its exact [start_time, end_time] timestamp, enabling instant video scrubbing and verification.</a:t>
            </a:r>
          </a:p>
        </p:txBody>
      </p:sp>
      <p:sp>
        <p:nvSpPr>
          <p:cNvPr id="9" name="Rounded Rectangle 8"/>
          <p:cNvSpPr/>
          <p:nvPr/>
        </p:nvSpPr>
        <p:spPr>
          <a:xfrm>
            <a:off x="8961120" y="1828800"/>
            <a:ext cx="246888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274320"/>
          <a:lstStyle/>
          <a:p>
            <a:pPr algn="ctr">
              <a:defRPr sz="1300" b="1">
                <a:solidFill>
                  <a:srgbClr val="F59E0B"/>
                </a:solidFill>
              </a:defRPr>
            </a:pPr>
            <a:r>
              <a:t>Pillar 4: Assistive Disclaimer</a:t>
            </a:r>
          </a:p>
          <a:p>
            <a:pPr>
              <a:spcBef>
                <a:spcPts val="400"/>
              </a:spcBef>
              <a:defRPr sz="1000" i="1">
                <a:solidFill>
                  <a:srgbClr val="94A3B8"/>
                </a:solidFill>
              </a:defRPr>
            </a:pPr>
            <a:r>
              <a:t>Mandatory Human-in-the-Loop</a:t>
            </a:r>
          </a:p>
          <a:p>
            <a:pPr>
              <a:spcBef>
                <a:spcPts val="1600"/>
              </a:spcBef>
              <a:defRPr sz="1050">
                <a:solidFill>
                  <a:srgbClr val="E2E8F0"/>
                </a:solidFill>
              </a:defRPr>
            </a:pPr>
            <a:r>
              <a:t>The system functions strictly as a research and review aid; human verification against official records remains legally mandatory. Prominently badged on UI &amp; PDF.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ARCHITECTURE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End-to-End System Pipeline Architecture</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Comprehensive 6-stage pipeline from multimedia ingestion to synchronized report delivery</a:t>
            </a:r>
          </a:p>
        </p:txBody>
      </p:sp>
      <p:pic>
        <p:nvPicPr>
          <p:cNvPr id="6" name="Picture 5" descr="architecture_diagram.png"/>
          <p:cNvPicPr>
            <a:picLocks noChangeAspect="1"/>
          </p:cNvPicPr>
          <p:nvPr/>
        </p:nvPicPr>
        <p:blipFill>
          <a:blip r:embed="rId2"/>
          <a:stretch>
            <a:fillRect/>
          </a:stretch>
        </p:blipFill>
        <p:spPr>
          <a:xfrm>
            <a:off x="731520" y="1737360"/>
            <a:ext cx="1069848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AUDIO ENGINEERING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Acoustic Engineering &amp; Loudness Normalization</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Solving acoustic variance, gavel spikes, and quiet witness testimonies via EBU R128</a:t>
            </a:r>
          </a:p>
        </p:txBody>
      </p:sp>
      <p:sp>
        <p:nvSpPr>
          <p:cNvPr id="6" name="Rounded Rectangle 5"/>
          <p:cNvSpPr/>
          <p:nvPr/>
        </p:nvSpPr>
        <p:spPr>
          <a:xfrm>
            <a:off x="731520" y="1737360"/>
            <a:ext cx="438912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38BDF8"/>
                </a:solidFill>
              </a:defRPr>
            </a:pPr>
            <a:r>
              <a:t>ACOUSTIC STANDARDIZATION &amp; VAD</a:t>
            </a:r>
          </a:p>
          <a:p>
            <a:pPr>
              <a:spcBef>
                <a:spcPts val="800"/>
              </a:spcBef>
              <a:defRPr sz="1100" b="1">
                <a:solidFill>
                  <a:srgbClr val="F59E0B"/>
                </a:solidFill>
              </a:defRPr>
            </a:pPr>
            <a:r>
              <a:t>• Standardized 16 kHz Mono WAV</a:t>
            </a:r>
          </a:p>
          <a:p>
            <a:pPr>
              <a:defRPr sz="1000">
                <a:solidFill>
                  <a:srgbClr val="E2E8F0"/>
                </a:solidFill>
              </a:defRPr>
            </a:pPr>
            <a:r>
              <a:t>Nyquist bandwidth of 8 kHz captures all human vocal formants while halving memory consumption over 48 kHz stereo.</a:t>
            </a:r>
          </a:p>
          <a:p>
            <a:pPr>
              <a:spcBef>
                <a:spcPts val="800"/>
              </a:spcBef>
              <a:defRPr sz="1100" b="1">
                <a:solidFill>
                  <a:srgbClr val="F59E0B"/>
                </a:solidFill>
              </a:defRPr>
            </a:pPr>
            <a:r>
              <a:t>• Why Peak Normalization Fails</a:t>
            </a:r>
          </a:p>
          <a:p>
            <a:pPr>
              <a:defRPr sz="1000">
                <a:solidFill>
                  <a:srgbClr val="E2E8F0"/>
                </a:solidFill>
              </a:defRPr>
            </a:pPr>
            <a:r>
              <a:t>A single loud gavel strike reaches 0 dBFS peak, leaving quiet witness testimony buried in background noise.</a:t>
            </a:r>
          </a:p>
          <a:p>
            <a:pPr>
              <a:spcBef>
                <a:spcPts val="800"/>
              </a:spcBef>
              <a:defRPr sz="1100" b="1">
                <a:solidFill>
                  <a:srgbClr val="F59E0B"/>
                </a:solidFill>
              </a:defRPr>
            </a:pPr>
            <a:r>
              <a:t>• EBU R128 (-23 LUFS) Norm</a:t>
            </a:r>
          </a:p>
          <a:p>
            <a:pPr>
              <a:defRPr sz="1000">
                <a:solidFill>
                  <a:srgbClr val="E2E8F0"/>
                </a:solidFill>
              </a:defRPr>
            </a:pPr>
            <a:r>
              <a:t>Psychoacoustic K-weighting balances integrated loudness over time, amplifying quiet witnesses while taming loud judges.</a:t>
            </a:r>
          </a:p>
          <a:p>
            <a:pPr>
              <a:spcBef>
                <a:spcPts val="800"/>
              </a:spcBef>
              <a:defRPr sz="1100" b="1">
                <a:solidFill>
                  <a:srgbClr val="F59E0B"/>
                </a:solidFill>
              </a:defRPr>
            </a:pPr>
            <a:r>
              <a:t>• Conservative VAD &amp; 200ms Margin</a:t>
            </a:r>
          </a:p>
          <a:p>
            <a:pPr>
              <a:defRPr sz="1000">
                <a:solidFill>
                  <a:srgbClr val="E2E8F0"/>
                </a:solidFill>
              </a:defRPr>
            </a:pPr>
            <a:r>
              <a:t>Bandpass (80Hz - 7.5kHz) cuts HVAC rumble. VAD (-35dB threshold) adds 200ms padding so quiet answers ('no', 'guilty') are never clipped.</a:t>
            </a:r>
          </a:p>
        </p:txBody>
      </p:sp>
      <p:pic>
        <p:nvPicPr>
          <p:cNvPr id="7" name="Picture 6" descr="audio_processing_waveform.png"/>
          <p:cNvPicPr>
            <a:picLocks noChangeAspect="1"/>
          </p:cNvPicPr>
          <p:nvPr/>
        </p:nvPicPr>
        <p:blipFill>
          <a:blip r:embed="rId2"/>
          <a:stretch>
            <a:fillRect/>
          </a:stretch>
        </p:blipFill>
        <p:spPr>
          <a:xfrm>
            <a:off x="5303520" y="1737360"/>
            <a:ext cx="612648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SPEECH RECOGNITION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Multilingual ASR &amp; CTranslate2 INT8 Optimization</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Achieving 20x real-time inference speed on commodity CPU hardware with domain conditioning</a:t>
            </a:r>
          </a:p>
        </p:txBody>
      </p:sp>
      <p:sp>
        <p:nvSpPr>
          <p:cNvPr id="6" name="Rounded Rectangle 5"/>
          <p:cNvSpPr/>
          <p:nvPr/>
        </p:nvSpPr>
        <p:spPr>
          <a:xfrm>
            <a:off x="731520" y="1828800"/>
            <a:ext cx="32918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38BDF8"/>
                </a:solidFill>
              </a:defRPr>
            </a:pPr>
            <a:r>
              <a:t>CTranslate2 &amp; INT8 Speedup</a:t>
            </a:r>
          </a:p>
          <a:p>
            <a:pPr>
              <a:spcBef>
                <a:spcPts val="800"/>
              </a:spcBef>
              <a:defRPr sz="1050">
                <a:solidFill>
                  <a:srgbClr val="E2E8F0"/>
                </a:solidFill>
              </a:defRPr>
            </a:pPr>
            <a:r>
              <a:t>• Standard PyTorch Whisper on CPU yields RTF ~ 0.8 - 1.2 (very slow).</a:t>
            </a:r>
          </a:p>
          <a:p>
            <a:pPr>
              <a:spcBef>
                <a:spcPts val="800"/>
              </a:spcBef>
              <a:defRPr sz="1050">
                <a:solidFill>
                  <a:srgbClr val="E2E8F0"/>
                </a:solidFill>
              </a:defRPr>
            </a:pPr>
            <a:r>
              <a:t>• We use faster-whisper with CTranslate2 C++ inference.</a:t>
            </a:r>
          </a:p>
          <a:p>
            <a:pPr>
              <a:spcBef>
                <a:spcPts val="800"/>
              </a:spcBef>
              <a:defRPr sz="1050">
                <a:solidFill>
                  <a:srgbClr val="E2E8F0"/>
                </a:solidFill>
              </a:defRPr>
            </a:pPr>
            <a:r>
              <a:t>• Applies INT8 weight quantization and fused matrix multiplications.</a:t>
            </a:r>
          </a:p>
          <a:p>
            <a:pPr>
              <a:spcBef>
                <a:spcPts val="800"/>
              </a:spcBef>
              <a:defRPr sz="1050">
                <a:solidFill>
                  <a:srgbClr val="E2E8F0"/>
                </a:solidFill>
              </a:defRPr>
            </a:pPr>
            <a:r>
              <a:t>• Result: Real-Time Factor (RTF) of 0.049 on CPU (processes 1 min of audio in under 3 seconds!).</a:t>
            </a:r>
          </a:p>
        </p:txBody>
      </p:sp>
      <p:sp>
        <p:nvSpPr>
          <p:cNvPr id="7" name="Rounded Rectangle 6"/>
          <p:cNvSpPr/>
          <p:nvPr/>
        </p:nvSpPr>
        <p:spPr>
          <a:xfrm>
            <a:off x="4434840" y="1828800"/>
            <a:ext cx="32918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10B981"/>
                </a:solidFill>
              </a:defRPr>
            </a:pPr>
            <a:r>
              <a:t>Automatic Language ID (LID)</a:t>
            </a:r>
          </a:p>
          <a:p>
            <a:pPr>
              <a:spcBef>
                <a:spcPts val="800"/>
              </a:spcBef>
              <a:defRPr sz="1050">
                <a:solidFill>
                  <a:srgbClr val="E2E8F0"/>
                </a:solidFill>
              </a:defRPr>
            </a:pPr>
            <a:r>
              <a:t>• Automatic language identification over first 30 seconds of audio.</a:t>
            </a:r>
          </a:p>
          <a:p>
            <a:pPr>
              <a:spcBef>
                <a:spcPts val="800"/>
              </a:spcBef>
              <a:defRPr sz="1050">
                <a:solidFill>
                  <a:srgbClr val="E2E8F0"/>
                </a:solidFill>
              </a:defRPr>
            </a:pPr>
            <a:r>
              <a:t>• Outputs softmax confidence score (e.g., Telugu: 96.5%, English: 99.2%).</a:t>
            </a:r>
          </a:p>
          <a:p>
            <a:pPr>
              <a:spcBef>
                <a:spcPts val="800"/>
              </a:spcBef>
              <a:defRPr sz="1050">
                <a:solidFill>
                  <a:srgbClr val="E2E8F0"/>
                </a:solidFill>
              </a:defRPr>
            </a:pPr>
            <a:r>
              <a:t>• Supports multilingual courtroom cases across English, Hindi, Telugu, and Tamil.</a:t>
            </a:r>
          </a:p>
          <a:p>
            <a:pPr>
              <a:spcBef>
                <a:spcPts val="800"/>
              </a:spcBef>
              <a:defRPr sz="1050">
                <a:solidFill>
                  <a:srgbClr val="E2E8F0"/>
                </a:solidFill>
              </a:defRPr>
            </a:pPr>
            <a:r>
              <a:t>• Decoupled language token feeding enables bilingual translation tracks.</a:t>
            </a:r>
          </a:p>
        </p:txBody>
      </p:sp>
      <p:sp>
        <p:nvSpPr>
          <p:cNvPr id="8" name="Rounded Rectangle 7"/>
          <p:cNvSpPr/>
          <p:nvPr/>
        </p:nvSpPr>
        <p:spPr>
          <a:xfrm>
            <a:off x="8138160" y="1828800"/>
            <a:ext cx="32918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F59E0B"/>
                </a:solidFill>
              </a:defRPr>
            </a:pPr>
            <a:r>
              <a:t>Domain-Conditioned Decoding</a:t>
            </a:r>
          </a:p>
          <a:p>
            <a:pPr>
              <a:spcBef>
                <a:spcPts val="800"/>
              </a:spcBef>
              <a:defRPr sz="1050">
                <a:solidFill>
                  <a:srgbClr val="E2E8F0"/>
                </a:solidFill>
              </a:defRPr>
            </a:pPr>
            <a:r>
              <a:t>• Court speech code-switches into technical statutory terms (IPC, CrPC, Section 211).</a:t>
            </a:r>
          </a:p>
          <a:p>
            <a:pPr>
              <a:spcBef>
                <a:spcPts val="800"/>
              </a:spcBef>
              <a:defRPr sz="1050">
                <a:solidFill>
                  <a:srgbClr val="E2E8F0"/>
                </a:solidFill>
              </a:defRPr>
            </a:pPr>
            <a:r>
              <a:t>• ASR initialized with legal domain initial_prompt.</a:t>
            </a:r>
          </a:p>
          <a:p>
            <a:pPr>
              <a:spcBef>
                <a:spcPts val="800"/>
              </a:spcBef>
              <a:defRPr sz="1050">
                <a:solidFill>
                  <a:srgbClr val="E2E8F0"/>
                </a:solidFill>
              </a:defRPr>
            </a:pPr>
            <a:r>
              <a:t>• Biases decoder autoregressive priors toward statutory vocabulary.</a:t>
            </a:r>
          </a:p>
          <a:p>
            <a:pPr>
              <a:spcBef>
                <a:spcPts val="800"/>
              </a:spcBef>
              <a:defRPr sz="1050">
                <a:solidFill>
                  <a:srgbClr val="E2E8F0"/>
                </a:solidFill>
              </a:defRPr>
            </a:pPr>
            <a:r>
              <a:t>• condition_on_previous_text=False eliminates infinite looping on background echo.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TEXT PROCESSING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Transcript Cleaning &amp; Legal Sentence Segmentation</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Preserving legal semantic truth, protecting negation tokens, and interpolating timestamps</a:t>
            </a:r>
          </a:p>
        </p:txBody>
      </p:sp>
      <p:sp>
        <p:nvSpPr>
          <p:cNvPr id="6" name="Rounded Rectangle 5"/>
          <p:cNvSpPr/>
          <p:nvPr/>
        </p:nvSpPr>
        <p:spPr>
          <a:xfrm>
            <a:off x="731520" y="1828800"/>
            <a:ext cx="521208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F59E0B"/>
                </a:solidFill>
              </a:defRPr>
            </a:pPr>
            <a:r>
              <a:t>DISFLUENCY CLEANING &amp; NEGATION LOCK</a:t>
            </a:r>
          </a:p>
          <a:p>
            <a:pPr>
              <a:spcBef>
                <a:spcPts val="800"/>
              </a:spcBef>
              <a:defRPr sz="1100" b="1">
                <a:solidFill>
                  <a:srgbClr val="FFFFFF"/>
                </a:solidFill>
              </a:defRPr>
            </a:pPr>
            <a:r>
              <a:t>• Filler Removal</a:t>
            </a:r>
          </a:p>
          <a:p>
            <a:pPr>
              <a:defRPr sz="1000">
                <a:solidFill>
                  <a:srgbClr val="E2E8F0"/>
                </a:solidFill>
              </a:defRPr>
            </a:pPr>
            <a:r>
              <a:t>Removes hesitations ('um', 'uh', 'ah') and stutter repetitions ('the the witness') without modifying vocabulary.</a:t>
            </a:r>
          </a:p>
          <a:p>
            <a:pPr>
              <a:spcBef>
                <a:spcPts val="800"/>
              </a:spcBef>
              <a:defRPr sz="1100" b="1">
                <a:solidFill>
                  <a:srgbClr val="FFFFFF"/>
                </a:solidFill>
              </a:defRPr>
            </a:pPr>
            <a:r>
              <a:t>• Strict Negation Preservation</a:t>
            </a:r>
          </a:p>
          <a:p>
            <a:pPr>
              <a:defRPr sz="1000">
                <a:solidFill>
                  <a:srgbClr val="E2E8F0"/>
                </a:solidFill>
              </a:defRPr>
            </a:pPr>
            <a:r>
              <a:t>Negation words ('not', 'never', 'nahi', 'kaadu', 'illai') are hard-locked. Stripping or altering a negation would invert legal guilt!</a:t>
            </a:r>
          </a:p>
          <a:p>
            <a:pPr>
              <a:spcBef>
                <a:spcPts val="800"/>
              </a:spcBef>
              <a:defRPr sz="1100" b="1">
                <a:solidFill>
                  <a:srgbClr val="FFFFFF"/>
                </a:solidFill>
              </a:defRPr>
            </a:pPr>
            <a:r>
              <a:t>• Numerical &amp; Date Verbatim Lock</a:t>
            </a:r>
          </a:p>
          <a:p>
            <a:pPr>
              <a:defRPr sz="1000">
                <a:solidFill>
                  <a:srgbClr val="E2E8F0"/>
                </a:solidFill>
              </a:defRPr>
            </a:pPr>
            <a:r>
              <a:t>Monetary sums, dates, and statute numbers are preserved verbatim with zero roundoff or formatting alterations.</a:t>
            </a:r>
          </a:p>
          <a:p>
            <a:pPr>
              <a:spcBef>
                <a:spcPts val="800"/>
              </a:spcBef>
              <a:defRPr sz="1100" b="1">
                <a:solidFill>
                  <a:srgbClr val="FFFFFF"/>
                </a:solidFill>
              </a:defRPr>
            </a:pPr>
            <a:r>
              <a:t>• Persistent Audit Log</a:t>
            </a:r>
          </a:p>
          <a:p>
            <a:pPr>
              <a:defRPr sz="1000">
                <a:solidFill>
                  <a:srgbClr val="E2E8F0"/>
                </a:solidFill>
              </a:defRPr>
            </a:pPr>
            <a:r>
              <a:t>Every cleaning transformation is recorded with character offsets in an audit log for judicial verification.</a:t>
            </a:r>
          </a:p>
        </p:txBody>
      </p:sp>
      <p:sp>
        <p:nvSpPr>
          <p:cNvPr id="7" name="Rounded Rectangle 6"/>
          <p:cNvSpPr/>
          <p:nvPr/>
        </p:nvSpPr>
        <p:spPr>
          <a:xfrm>
            <a:off x="6217920" y="1828800"/>
            <a:ext cx="521208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38BDF8"/>
                </a:solidFill>
              </a:defRPr>
            </a:pPr>
            <a:r>
              <a:t>ABBREVIATION PROTECTION &amp; TIMESTAMPS</a:t>
            </a:r>
          </a:p>
          <a:p>
            <a:pPr>
              <a:spcBef>
                <a:spcPts val="800"/>
              </a:spcBef>
              <a:defRPr sz="1100" b="1">
                <a:solidFill>
                  <a:srgbClr val="FFFFFF"/>
                </a:solidFill>
              </a:defRPr>
            </a:pPr>
            <a:r>
              <a:t>• The Period (.) Problem</a:t>
            </a:r>
          </a:p>
          <a:p>
            <a:pPr>
              <a:defRPr sz="1000">
                <a:solidFill>
                  <a:srgbClr val="E2E8F0"/>
                </a:solidFill>
              </a:defRPr>
            </a:pPr>
            <a:r>
              <a:t>Standard splitters treat every period as a sentence end. In legal text, this shreds citations like 'State v. Kumar' or 'Sec. 302 IPC' into meaningless fragments!</a:t>
            </a:r>
          </a:p>
          <a:p>
            <a:pPr>
              <a:spcBef>
                <a:spcPts val="800"/>
              </a:spcBef>
              <a:defRPr sz="1100" b="1">
                <a:solidFill>
                  <a:srgbClr val="FFFFFF"/>
                </a:solidFill>
              </a:defRPr>
            </a:pPr>
            <a:r>
              <a:t>• Protected Legal Lexicon</a:t>
            </a:r>
          </a:p>
          <a:p>
            <a:pPr>
              <a:defRPr sz="1000">
                <a:solidFill>
                  <a:srgbClr val="E2E8F0"/>
                </a:solidFill>
              </a:defRPr>
            </a:pPr>
            <a:r>
              <a:t>Regex-protected honorifics ('Hon.', 'Dr.') and legal citations ('v.', 'vs.', 'Sec.', 'Art.', 'No.', 'CrPC', 'IPC') are preserved.</a:t>
            </a:r>
          </a:p>
          <a:p>
            <a:pPr>
              <a:spcBef>
                <a:spcPts val="800"/>
              </a:spcBef>
              <a:defRPr sz="1100" b="1">
                <a:solidFill>
                  <a:srgbClr val="FFFFFF"/>
                </a:solidFill>
              </a:defRPr>
            </a:pPr>
            <a:r>
              <a:t>• Multi-Script Terminal Split</a:t>
            </a:r>
          </a:p>
          <a:p>
            <a:pPr>
              <a:defRPr sz="1000">
                <a:solidFill>
                  <a:srgbClr val="E2E8F0"/>
                </a:solidFill>
              </a:defRPr>
            </a:pPr>
            <a:r>
              <a:t>Splits on genuine terminal punctuation: English ('.', '!', '?') and Indic danda ('।').</a:t>
            </a:r>
          </a:p>
          <a:p>
            <a:pPr>
              <a:spcBef>
                <a:spcPts val="800"/>
              </a:spcBef>
              <a:defRPr sz="1100" b="1">
                <a:solidFill>
                  <a:srgbClr val="FFFFFF"/>
                </a:solidFill>
              </a:defRPr>
            </a:pPr>
            <a:r>
              <a:t>• Proportional Timestamp Interpolation</a:t>
            </a:r>
          </a:p>
          <a:p>
            <a:pPr>
              <a:defRPr sz="1000">
                <a:solidFill>
                  <a:srgbClr val="E2E8F0"/>
                </a:solidFill>
              </a:defRPr>
            </a:pPr>
            <a:r>
              <a:t>Calculates character-length proportional start and end timestamps across segment splits, maintaining microsecond synchronization.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ALGORITHMS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Three Extractive Summarization Methodologies</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Rigorous comparison of Frequency-based, Graph-theoretic, and Semantic Vector approaches</a:t>
            </a:r>
          </a:p>
        </p:txBody>
      </p:sp>
      <p:sp>
        <p:nvSpPr>
          <p:cNvPr id="6" name="Rounded Rectangle 5"/>
          <p:cNvSpPr/>
          <p:nvPr/>
        </p:nvSpPr>
        <p:spPr>
          <a:xfrm>
            <a:off x="731520" y="1828800"/>
            <a:ext cx="32918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38BDF8"/>
                </a:solidFill>
              </a:defRPr>
            </a:pPr>
            <a:r>
              <a:t>Method A: TF-IDF + Position</a:t>
            </a:r>
          </a:p>
          <a:p>
            <a:pPr>
              <a:spcBef>
                <a:spcPts val="200"/>
              </a:spcBef>
              <a:defRPr sz="1100" b="1">
                <a:solidFill>
                  <a:srgbClr val="F59E0B"/>
                </a:solidFill>
              </a:defRPr>
            </a:pPr>
            <a:r>
              <a:t>[Frequency-Based Baseline]</a:t>
            </a:r>
          </a:p>
          <a:p>
            <a:pPr>
              <a:spcBef>
                <a:spcPts val="600"/>
              </a:spcBef>
              <a:defRPr sz="1000" b="0">
                <a:solidFill>
                  <a:srgbClr val="E2E8F0"/>
                </a:solidFill>
              </a:defRPr>
            </a:pPr>
            <a:r>
              <a:t>• Computes mean non-zero TF-IDF weight across constituent tokens.</a:t>
            </a:r>
          </a:p>
          <a:p>
            <a:pPr>
              <a:spcBef>
                <a:spcPts val="600"/>
              </a:spcBef>
              <a:defRPr sz="1000" b="0">
                <a:solidFill>
                  <a:srgbClr val="E2E8F0"/>
                </a:solidFill>
              </a:defRPr>
            </a:pPr>
            <a:r>
              <a:t>• Discourse Position Prior P(i): boosts opening 15% (charges framed) and closing 15% (judicial dispositions).</a:t>
            </a:r>
          </a:p>
          <a:p>
            <a:pPr>
              <a:spcBef>
                <a:spcPts val="600"/>
              </a:spcBef>
              <a:defRPr sz="1000" b="0">
                <a:solidFill>
                  <a:srgbClr val="E2E8F0"/>
                </a:solidFill>
              </a:defRPr>
            </a:pPr>
            <a:r>
              <a:t>• Applies length penalty to discard short utterances (&lt;4 words) and run-on monologues (&gt;50 words).</a:t>
            </a:r>
          </a:p>
        </p:txBody>
      </p:sp>
      <p:sp>
        <p:nvSpPr>
          <p:cNvPr id="7" name="Rounded Rectangle 6"/>
          <p:cNvSpPr/>
          <p:nvPr/>
        </p:nvSpPr>
        <p:spPr>
          <a:xfrm>
            <a:off x="4434840" y="1828800"/>
            <a:ext cx="32918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10B981"/>
                </a:solidFill>
              </a:defRPr>
            </a:pPr>
            <a:r>
              <a:t>Method B: TextRank Graph [TOP]</a:t>
            </a:r>
          </a:p>
          <a:p>
            <a:pPr>
              <a:spcBef>
                <a:spcPts val="200"/>
              </a:spcBef>
              <a:defRPr sz="1100" b="1">
                <a:solidFill>
                  <a:srgbClr val="F59E0B"/>
                </a:solidFill>
              </a:defRPr>
            </a:pPr>
            <a:r>
              <a:t>[Graph Centrality (LexRank)]</a:t>
            </a:r>
          </a:p>
          <a:p>
            <a:pPr>
              <a:spcBef>
                <a:spcPts val="600"/>
              </a:spcBef>
              <a:defRPr sz="1000" b="0">
                <a:solidFill>
                  <a:srgbClr val="E2E8F0"/>
                </a:solidFill>
              </a:defRPr>
            </a:pPr>
            <a:r>
              <a:t>• Constructs sentence affinity graph G=(V,E) where edge weights w_ij = cosine similarity of TF-IDF vectors.</a:t>
            </a:r>
          </a:p>
          <a:p>
            <a:pPr>
              <a:spcBef>
                <a:spcPts val="600"/>
              </a:spcBef>
              <a:defRPr sz="1000" b="0">
                <a:solidFill>
                  <a:srgbClr val="E2E8F0"/>
                </a:solidFill>
              </a:defRPr>
            </a:pPr>
            <a:r>
              <a:t>• PageRank iteration (d=0.85) calculates eigenvector sentence centrality.</a:t>
            </a:r>
          </a:p>
          <a:p>
            <a:pPr>
              <a:spcBef>
                <a:spcPts val="600"/>
              </a:spcBef>
              <a:defRPr sz="1000" b="0">
                <a:solidFill>
                  <a:srgbClr val="E2E8F0"/>
                </a:solidFill>
              </a:defRPr>
            </a:pPr>
            <a:r>
              <a:t>• Greedy Redundancy Suppression (μ=0.30) prevents repetitive advocate claims from saturating summary.</a:t>
            </a:r>
          </a:p>
        </p:txBody>
      </p:sp>
      <p:sp>
        <p:nvSpPr>
          <p:cNvPr id="8" name="Rounded Rectangle 7"/>
          <p:cNvSpPr/>
          <p:nvPr/>
        </p:nvSpPr>
        <p:spPr>
          <a:xfrm>
            <a:off x="8138160" y="1828800"/>
            <a:ext cx="32918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F59E0B"/>
                </a:solidFill>
              </a:defRPr>
            </a:pPr>
            <a:r>
              <a:t>Method C: Multilingual MiniLM MMR</a:t>
            </a:r>
          </a:p>
          <a:p>
            <a:pPr>
              <a:spcBef>
                <a:spcPts val="200"/>
              </a:spcBef>
              <a:defRPr sz="1100" b="1">
                <a:solidFill>
                  <a:srgbClr val="F59E0B"/>
                </a:solidFill>
              </a:defRPr>
            </a:pPr>
            <a:r>
              <a:t>[Semantic Vector Embeddings]</a:t>
            </a:r>
          </a:p>
          <a:p>
            <a:pPr>
              <a:spcBef>
                <a:spcPts val="600"/>
              </a:spcBef>
              <a:defRPr sz="1000" b="0">
                <a:solidFill>
                  <a:srgbClr val="E2E8F0"/>
                </a:solidFill>
              </a:defRPr>
            </a:pPr>
            <a:r>
              <a:t>• Maps sentences into 384-dimensional vectors via paraphrase-multilingual-MiniLM-L12-v2.</a:t>
            </a:r>
          </a:p>
          <a:p>
            <a:pPr>
              <a:spcBef>
                <a:spcPts val="600"/>
              </a:spcBef>
              <a:defRPr sz="1000" b="0">
                <a:solidFill>
                  <a:srgbClr val="E2E8F0"/>
                </a:solidFill>
              </a:defRPr>
            </a:pPr>
            <a:r>
              <a:t>• Computes proceeding centroid vector c.</a:t>
            </a:r>
          </a:p>
          <a:p>
            <a:pPr>
              <a:spcBef>
                <a:spcPts val="600"/>
              </a:spcBef>
              <a:defRPr sz="1000" b="0">
                <a:solidFill>
                  <a:srgbClr val="E2E8F0"/>
                </a:solidFill>
              </a:defRPr>
            </a:pPr>
            <a:r>
              <a:t>• Maximal Marginal Relevance (MMR with λ=0.65) balances relevance to whole trial and diversity from selected sentences.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DOMAIN RULES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Legal Domain Salience Booster &amp; Allegation Segregation</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Integrating statutory cue weighting and formal segregation of advocate claims vs court orders</a:t>
            </a:r>
          </a:p>
        </p:txBody>
      </p:sp>
      <p:sp>
        <p:nvSpPr>
          <p:cNvPr id="6" name="Rounded Rectangle 5"/>
          <p:cNvSpPr/>
          <p:nvPr/>
        </p:nvSpPr>
        <p:spPr>
          <a:xfrm>
            <a:off x="731520" y="1828800"/>
            <a:ext cx="521208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F59E0B"/>
                </a:solidFill>
              </a:defRPr>
            </a:pPr>
            <a:r>
              <a:t>MULTILINGUAL LEGAL LEXICON WEIGHTS</a:t>
            </a:r>
          </a:p>
          <a:p>
            <a:pPr>
              <a:spcBef>
                <a:spcPts val="800"/>
              </a:spcBef>
              <a:defRPr sz="1100" b="1">
                <a:solidFill>
                  <a:srgbClr val="FFFFFF"/>
                </a:solidFill>
              </a:defRPr>
            </a:pPr>
            <a:r>
              <a:t>• Judicial Dispositions (2.5x Multiplier)</a:t>
            </a:r>
          </a:p>
          <a:p>
            <a:pPr>
              <a:defRPr sz="1000">
                <a:solidFill>
                  <a:srgbClr val="E2E8F0"/>
                </a:solidFill>
              </a:defRPr>
            </a:pPr>
            <a:r>
              <a:t>Triggers: 'held', 'ruled', 'court orders', 'bail granted', 'acquitted', 'convicted', 'faisla', 'teerpu'.</a:t>
            </a:r>
          </a:p>
          <a:p>
            <a:pPr>
              <a:spcBef>
                <a:spcPts val="800"/>
              </a:spcBef>
              <a:defRPr sz="1100" b="1">
                <a:solidFill>
                  <a:srgbClr val="FFFFFF"/>
                </a:solidFill>
              </a:defRPr>
            </a:pPr>
            <a:r>
              <a:t>• Evidentiary Testimony (1.8x Multiplier)</a:t>
            </a:r>
          </a:p>
          <a:p>
            <a:pPr>
              <a:defRPr sz="1000">
                <a:solidFill>
                  <a:srgbClr val="E2E8F0"/>
                </a:solidFill>
              </a:defRPr>
            </a:pPr>
            <a:r>
              <a:t>Triggers: 'witness testifies', 'exhibit', 'forensic report', 'tire marks', 'confession', 'saboot', 'saakshyam'.</a:t>
            </a:r>
          </a:p>
          <a:p>
            <a:pPr>
              <a:spcBef>
                <a:spcPts val="800"/>
              </a:spcBef>
              <a:defRPr sz="1100" b="1">
                <a:solidFill>
                  <a:srgbClr val="FFFFFF"/>
                </a:solidFill>
              </a:defRPr>
            </a:pPr>
            <a:r>
              <a:t>• Statutory Codes (1.6x Multiplier)</a:t>
            </a:r>
          </a:p>
          <a:p>
            <a:pPr>
              <a:defRPr sz="1000">
                <a:solidFill>
                  <a:srgbClr val="E2E8F0"/>
                </a:solidFill>
              </a:defRPr>
            </a:pPr>
            <a:r>
              <a:t>Triggers: 'Section', 'IPC', 'CrPC', 'Article', 'charge sheet', 'dhara'.</a:t>
            </a:r>
          </a:p>
          <a:p>
            <a:pPr>
              <a:spcBef>
                <a:spcPts val="800"/>
              </a:spcBef>
              <a:defRPr sz="1100" b="1">
                <a:solidFill>
                  <a:srgbClr val="FFFFFF"/>
                </a:solidFill>
              </a:defRPr>
            </a:pPr>
            <a:r>
              <a:t>• Advocate Allegations (0.85x Multiplier)</a:t>
            </a:r>
          </a:p>
          <a:p>
            <a:pPr>
              <a:defRPr sz="1000">
                <a:solidFill>
                  <a:srgbClr val="E2E8F0"/>
                </a:solidFill>
              </a:defRPr>
            </a:pPr>
            <a:r>
              <a:t>Triggers: 'prosecution claims', 'defense argues', 'alleges', 'accused contends'. Receives penalty and allegation badge.</a:t>
            </a:r>
          </a:p>
        </p:txBody>
      </p:sp>
      <p:sp>
        <p:nvSpPr>
          <p:cNvPr id="7" name="Rounded Rectangle 6"/>
          <p:cNvSpPr/>
          <p:nvPr/>
        </p:nvSpPr>
        <p:spPr>
          <a:xfrm>
            <a:off x="6217920" y="1828800"/>
            <a:ext cx="52120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0B981"/>
                </a:solidFill>
              </a:defRPr>
            </a:pPr>
            <a:r>
              <a:t>REAL SYSTEM OUTPUT EXAMPLES</a:t>
            </a:r>
          </a:p>
          <a:p>
            <a:pPr>
              <a:spcBef>
                <a:spcPts val="1000"/>
              </a:spcBef>
              <a:defRPr sz="1100" b="1">
                <a:solidFill>
                  <a:srgbClr val="10B981"/>
                </a:solidFill>
              </a:defRPr>
            </a:pPr>
            <a:r>
              <a:t>1. [JUDICIAL_RULING] • Salience: 20.87 (Boosted 2.5x)</a:t>
            </a:r>
          </a:p>
          <a:p>
            <a:pPr>
              <a:defRPr sz="1000" i="1">
                <a:solidFill>
                  <a:srgbClr val="E2E8F0"/>
                </a:solidFill>
              </a:defRPr>
            </a:pPr>
            <a:r>
              <a:t>"The Court hereby orders a departmental and criminal inquiry under Section 211 against the investigating officers found guilty." (CASE_TE_02, Naandhi)</a:t>
            </a:r>
          </a:p>
          <a:p>
            <a:pPr>
              <a:spcBef>
                <a:spcPts val="1400"/>
              </a:spcBef>
              <a:defRPr sz="1100" b="1">
                <a:solidFill>
                  <a:srgbClr val="F59E0B"/>
                </a:solidFill>
              </a:defRPr>
            </a:pPr>
            <a:r>
              <a:t>2. [ADVOCATE_ALLEGATION] • Salience: 0.041 (Penalized 0.85x)</a:t>
            </a:r>
          </a:p>
          <a:p>
            <a:pPr>
              <a:defRPr sz="1000" i="1">
                <a:solidFill>
                  <a:srgbClr val="E2E8F0"/>
                </a:solidFill>
              </a:defRPr>
            </a:pPr>
            <a:r>
              <a:t>"Counsel submits that the evidence was fabricated by the prosecution to falsely implicate the petitioner." (CASE_HI_01, Criminal Justice)</a:t>
            </a:r>
          </a:p>
          <a:p>
            <a:pPr>
              <a:spcBef>
                <a:spcPts val="1400"/>
              </a:spcBef>
              <a:defRPr sz="1100" b="1">
                <a:solidFill>
                  <a:srgbClr val="38BDF8"/>
                </a:solidFill>
              </a:defRPr>
            </a:pPr>
            <a:r>
              <a:t>3. Temporal Anchor Verification</a:t>
            </a:r>
          </a:p>
          <a:p>
            <a:pPr>
              <a:defRPr sz="1000">
                <a:solidFill>
                  <a:srgbClr val="E2E8F0"/>
                </a:solidFill>
              </a:defRPr>
            </a:pPr>
            <a:r>
              <a:t>Every excerpt links directly to [start_time, end_time]. Clicking the timestamp scrubs the synchronized video player to the exact evidentiary moment.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CORPUS &amp; DATA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Multilingual Dataset &amp; Procedural Inventory</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Curated benchmark corpus across 10 courtroom proceedings, 4 languages, and 42+ minutes</a:t>
            </a:r>
          </a:p>
        </p:txBody>
      </p:sp>
      <p:graphicFrame>
        <p:nvGraphicFramePr>
          <p:cNvPr id="6" name="Table 5"/>
          <p:cNvGraphicFramePr>
            <a:graphicFrameLocks noGrp="1"/>
          </p:cNvGraphicFramePr>
          <p:nvPr/>
        </p:nvGraphicFramePr>
        <p:xfrm>
          <a:off x="731520" y="1737360"/>
          <a:ext cx="10698480" cy="4572000"/>
        </p:xfrm>
        <a:graphic>
          <a:graphicData uri="http://schemas.openxmlformats.org/drawingml/2006/table">
            <a:tbl>
              <a:tblPr firstRow="1" bandRow="1">
                <a:tableStyleId>{5C22544A-7EE6-4342-B048-85BDC9FD1C3A}</a:tableStyleId>
              </a:tblPr>
              <a:tblGrid>
                <a:gridCol w="1188720"/>
                <a:gridCol w="2560320"/>
                <a:gridCol w="1371600"/>
                <a:gridCol w="1097280"/>
                <a:gridCol w="3108960"/>
                <a:gridCol w="1371600"/>
              </a:tblGrid>
              <a:tr h="415636">
                <a:tc>
                  <a:txBody>
                    <a:bodyPr/>
                    <a:lstStyle/>
                    <a:p>
                      <a:pPr algn="ctr">
                        <a:defRPr sz="1000" b="1">
                          <a:solidFill>
                            <a:srgbClr val="FFFFFF"/>
                          </a:solidFill>
                        </a:defRPr>
                      </a:pPr>
                      <a:r>
                        <a:t>Case ID</a:t>
                      </a:r>
                    </a:p>
                  </a:txBody>
                  <a:tcPr>
                    <a:solidFill>
                      <a:srgbClr val="1E3A8A"/>
                    </a:solidFill>
                  </a:tcPr>
                </a:tc>
                <a:tc>
                  <a:txBody>
                    <a:bodyPr/>
                    <a:lstStyle/>
                    <a:p>
                      <a:pPr algn="ctr">
                        <a:defRPr sz="1000" b="1">
                          <a:solidFill>
                            <a:srgbClr val="FFFFFF"/>
                          </a:solidFill>
                        </a:defRPr>
                      </a:pPr>
                      <a:r>
                        <a:t>Source Title</a:t>
                      </a:r>
                    </a:p>
                  </a:txBody>
                  <a:tcPr>
                    <a:solidFill>
                      <a:srgbClr val="1E3A8A"/>
                    </a:solidFill>
                  </a:tcPr>
                </a:tc>
                <a:tc>
                  <a:txBody>
                    <a:bodyPr/>
                    <a:lstStyle/>
                    <a:p>
                      <a:pPr algn="ctr">
                        <a:defRPr sz="1000" b="1">
                          <a:solidFill>
                            <a:srgbClr val="FFFFFF"/>
                          </a:solidFill>
                        </a:defRPr>
                      </a:pPr>
                      <a:r>
                        <a:t>Language</a:t>
                      </a:r>
                    </a:p>
                  </a:txBody>
                  <a:tcPr>
                    <a:solidFill>
                      <a:srgbClr val="1E3A8A"/>
                    </a:solidFill>
                  </a:tcPr>
                </a:tc>
                <a:tc>
                  <a:txBody>
                    <a:bodyPr/>
                    <a:lstStyle/>
                    <a:p>
                      <a:pPr algn="ctr">
                        <a:defRPr sz="1000" b="1">
                          <a:solidFill>
                            <a:srgbClr val="FFFFFF"/>
                          </a:solidFill>
                        </a:defRPr>
                      </a:pPr>
                      <a:r>
                        <a:t>Duration</a:t>
                      </a:r>
                    </a:p>
                  </a:txBody>
                  <a:tcPr>
                    <a:solidFill>
                      <a:srgbClr val="1E3A8A"/>
                    </a:solidFill>
                  </a:tcPr>
                </a:tc>
                <a:tc>
                  <a:txBody>
                    <a:bodyPr/>
                    <a:lstStyle/>
                    <a:p>
                      <a:pPr algn="ctr">
                        <a:defRPr sz="1000" b="1">
                          <a:solidFill>
                            <a:srgbClr val="FFFFFF"/>
                          </a:solidFill>
                        </a:defRPr>
                      </a:pPr>
                      <a:r>
                        <a:t>Acoustic Quality &amp; Procedural Type</a:t>
                      </a:r>
                    </a:p>
                  </a:txBody>
                  <a:tcPr>
                    <a:solidFill>
                      <a:srgbClr val="1E3A8A"/>
                    </a:solidFill>
                  </a:tcPr>
                </a:tc>
                <a:tc>
                  <a:txBody>
                    <a:bodyPr/>
                    <a:lstStyle/>
                    <a:p>
                      <a:pPr algn="ctr">
                        <a:defRPr sz="1000" b="1">
                          <a:solidFill>
                            <a:srgbClr val="FFFFFF"/>
                          </a:solidFill>
                        </a:defRPr>
                      </a:pPr>
                      <a:r>
                        <a:t>Split</a:t>
                      </a:r>
                    </a:p>
                  </a:txBody>
                  <a:tcPr>
                    <a:solidFill>
                      <a:srgbClr val="1E3A8A"/>
                    </a:solidFill>
                  </a:tcPr>
                </a:tc>
              </a:tr>
              <a:tr h="415636">
                <a:tc>
                  <a:txBody>
                    <a:bodyPr/>
                    <a:lstStyle/>
                    <a:p>
                      <a:pPr algn="ctr">
                        <a:defRPr sz="900">
                          <a:solidFill>
                            <a:srgbClr val="38BDF8"/>
                          </a:solidFill>
                        </a:defRPr>
                      </a:pPr>
                      <a:r>
                        <a:t>CASE_EN_01</a:t>
                      </a:r>
                    </a:p>
                  </a:txBody>
                  <a:tcPr>
                    <a:solidFill>
                      <a:srgbClr val="1E293B"/>
                    </a:solidFill>
                  </a:tcPr>
                </a:tc>
                <a:tc>
                  <a:txBody>
                    <a:bodyPr/>
                    <a:lstStyle/>
                    <a:p>
                      <a:pPr>
                        <a:defRPr sz="900">
                          <a:solidFill>
                            <a:srgbClr val="E2E8F0"/>
                          </a:solidFill>
                        </a:defRPr>
                      </a:pPr>
                      <a:r>
                        <a:t>My Cousin Vinny (1992)</a:t>
                      </a:r>
                    </a:p>
                  </a:txBody>
                  <a:tcPr>
                    <a:solidFill>
                      <a:srgbClr val="1E293B"/>
                    </a:solidFill>
                  </a:tcPr>
                </a:tc>
                <a:tc>
                  <a:txBody>
                    <a:bodyPr/>
                    <a:lstStyle/>
                    <a:p>
                      <a:pPr algn="ctr">
                        <a:defRPr sz="900">
                          <a:solidFill>
                            <a:srgbClr val="E2E8F0"/>
                          </a:solidFill>
                        </a:defRPr>
                      </a:pPr>
                      <a:r>
                        <a:t>English (EN)</a:t>
                      </a:r>
                    </a:p>
                  </a:txBody>
                  <a:tcPr>
                    <a:solidFill>
                      <a:srgbClr val="1E293B"/>
                    </a:solidFill>
                  </a:tcPr>
                </a:tc>
                <a:tc>
                  <a:txBody>
                    <a:bodyPr/>
                    <a:lstStyle/>
                    <a:p>
                      <a:pPr algn="ctr">
                        <a:defRPr sz="900">
                          <a:solidFill>
                            <a:srgbClr val="E2E8F0"/>
                          </a:solidFill>
                        </a:defRPr>
                      </a:pPr>
                      <a:r>
                        <a:t>154.0s</a:t>
                      </a:r>
                    </a:p>
                  </a:txBody>
                  <a:tcPr>
                    <a:solidFill>
                      <a:srgbClr val="1E293B"/>
                    </a:solidFill>
                  </a:tcPr>
                </a:tc>
                <a:tc>
                  <a:txBody>
                    <a:bodyPr/>
                    <a:lstStyle/>
                    <a:p>
                      <a:pPr>
                        <a:defRPr sz="900">
                          <a:solidFill>
                            <a:srgbClr val="E2E8F0"/>
                          </a:solidFill>
                        </a:defRPr>
                      </a:pPr>
                      <a:r>
                        <a:t>Studio clean; automotive forensic cross-examination</a:t>
                      </a:r>
                    </a:p>
                  </a:txBody>
                  <a:tcPr>
                    <a:solidFill>
                      <a:srgbClr val="1E293B"/>
                    </a:solidFill>
                  </a:tcPr>
                </a:tc>
                <a:tc>
                  <a:txBody>
                    <a:bodyPr/>
                    <a:lstStyle/>
                    <a:p>
                      <a:pPr algn="ctr">
                        <a:defRPr sz="900">
                          <a:solidFill>
                            <a:srgbClr val="E2E8F0"/>
                          </a:solidFill>
                        </a:defRPr>
                      </a:pPr>
                      <a:r>
                        <a:t>Dev</a:t>
                      </a:r>
                    </a:p>
                  </a:txBody>
                  <a:tcPr>
                    <a:solidFill>
                      <a:srgbClr val="1E293B"/>
                    </a:solidFill>
                  </a:tcPr>
                </a:tc>
              </a:tr>
              <a:tr h="415636">
                <a:tc>
                  <a:txBody>
                    <a:bodyPr/>
                    <a:lstStyle/>
                    <a:p>
                      <a:pPr algn="ctr">
                        <a:defRPr sz="900">
                          <a:solidFill>
                            <a:srgbClr val="38BDF8"/>
                          </a:solidFill>
                        </a:defRPr>
                      </a:pPr>
                      <a:r>
                        <a:t>CASE_TE_01</a:t>
                      </a:r>
                    </a:p>
                  </a:txBody>
                  <a:tcPr>
                    <a:solidFill>
                      <a:srgbClr val="111827"/>
                    </a:solidFill>
                  </a:tcPr>
                </a:tc>
                <a:tc>
                  <a:txBody>
                    <a:bodyPr/>
                    <a:lstStyle/>
                    <a:p>
                      <a:pPr>
                        <a:defRPr sz="900">
                          <a:solidFill>
                            <a:srgbClr val="E2E8F0"/>
                          </a:solidFill>
                        </a:defRPr>
                      </a:pPr>
                      <a:r>
                        <a:t>Friendship (2022)</a:t>
                      </a:r>
                    </a:p>
                  </a:txBody>
                  <a:tcPr>
                    <a:solidFill>
                      <a:srgbClr val="111827"/>
                    </a:solidFill>
                  </a:tcPr>
                </a:tc>
                <a:tc>
                  <a:txBody>
                    <a:bodyPr/>
                    <a:lstStyle/>
                    <a:p>
                      <a:pPr algn="ctr">
                        <a:defRPr sz="900">
                          <a:solidFill>
                            <a:srgbClr val="E2E8F0"/>
                          </a:solidFill>
                        </a:defRPr>
                      </a:pPr>
                      <a:r>
                        <a:t>Telugu (TE)</a:t>
                      </a:r>
                    </a:p>
                  </a:txBody>
                  <a:tcPr>
                    <a:solidFill>
                      <a:srgbClr val="111827"/>
                    </a:solidFill>
                  </a:tcPr>
                </a:tc>
                <a:tc>
                  <a:txBody>
                    <a:bodyPr/>
                    <a:lstStyle/>
                    <a:p>
                      <a:pPr algn="ctr">
                        <a:defRPr sz="900">
                          <a:solidFill>
                            <a:srgbClr val="E2E8F0"/>
                          </a:solidFill>
                        </a:defRPr>
                      </a:pPr>
                      <a:r>
                        <a:t>309.1s</a:t>
                      </a:r>
                    </a:p>
                  </a:txBody>
                  <a:tcPr>
                    <a:solidFill>
                      <a:srgbClr val="111827"/>
                    </a:solidFill>
                  </a:tcPr>
                </a:tc>
                <a:tc>
                  <a:txBody>
                    <a:bodyPr/>
                    <a:lstStyle/>
                    <a:p>
                      <a:pPr>
                        <a:defRPr sz="900">
                          <a:solidFill>
                            <a:srgbClr val="E2E8F0"/>
                          </a:solidFill>
                        </a:defRPr>
                      </a:pPr>
                      <a:r>
                        <a:t>Dynamic score; student trial &amp; fast dialogue</a:t>
                      </a:r>
                    </a:p>
                  </a:txBody>
                  <a:tcPr>
                    <a:solidFill>
                      <a:srgbClr val="111827"/>
                    </a:solidFill>
                  </a:tcPr>
                </a:tc>
                <a:tc>
                  <a:txBody>
                    <a:bodyPr/>
                    <a:lstStyle/>
                    <a:p>
                      <a:pPr algn="ctr">
                        <a:defRPr sz="900">
                          <a:solidFill>
                            <a:srgbClr val="E2E8F0"/>
                          </a:solidFill>
                        </a:defRPr>
                      </a:pPr>
                      <a:r>
                        <a:t>Test</a:t>
                      </a:r>
                    </a:p>
                  </a:txBody>
                  <a:tcPr>
                    <a:solidFill>
                      <a:srgbClr val="111827"/>
                    </a:solidFill>
                  </a:tcPr>
                </a:tc>
              </a:tr>
              <a:tr h="415636">
                <a:tc>
                  <a:txBody>
                    <a:bodyPr/>
                    <a:lstStyle/>
                    <a:p>
                      <a:pPr algn="ctr">
                        <a:defRPr sz="900">
                          <a:solidFill>
                            <a:srgbClr val="38BDF8"/>
                          </a:solidFill>
                        </a:defRPr>
                      </a:pPr>
                      <a:r>
                        <a:t>CASE_EN_02</a:t>
                      </a:r>
                    </a:p>
                  </a:txBody>
                  <a:tcPr>
                    <a:solidFill>
                      <a:srgbClr val="1E293B"/>
                    </a:solidFill>
                  </a:tcPr>
                </a:tc>
                <a:tc>
                  <a:txBody>
                    <a:bodyPr/>
                    <a:lstStyle/>
                    <a:p>
                      <a:pPr>
                        <a:defRPr sz="900">
                          <a:solidFill>
                            <a:srgbClr val="E2E8F0"/>
                          </a:solidFill>
                        </a:defRPr>
                      </a:pPr>
                      <a:r>
                        <a:t>Law Abiding Citizen (2009)</a:t>
                      </a:r>
                    </a:p>
                  </a:txBody>
                  <a:tcPr>
                    <a:solidFill>
                      <a:srgbClr val="1E293B"/>
                    </a:solidFill>
                  </a:tcPr>
                </a:tc>
                <a:tc>
                  <a:txBody>
                    <a:bodyPr/>
                    <a:lstStyle/>
                    <a:p>
                      <a:pPr algn="ctr">
                        <a:defRPr sz="900">
                          <a:solidFill>
                            <a:srgbClr val="E2E8F0"/>
                          </a:solidFill>
                        </a:defRPr>
                      </a:pPr>
                      <a:r>
                        <a:t>English (EN)</a:t>
                      </a:r>
                    </a:p>
                  </a:txBody>
                  <a:tcPr>
                    <a:solidFill>
                      <a:srgbClr val="1E293B"/>
                    </a:solidFill>
                  </a:tcPr>
                </a:tc>
                <a:tc>
                  <a:txBody>
                    <a:bodyPr/>
                    <a:lstStyle/>
                    <a:p>
                      <a:pPr algn="ctr">
                        <a:defRPr sz="900">
                          <a:solidFill>
                            <a:srgbClr val="E2E8F0"/>
                          </a:solidFill>
                        </a:defRPr>
                      </a:pPr>
                      <a:r>
                        <a:t>180.5s</a:t>
                      </a:r>
                    </a:p>
                  </a:txBody>
                  <a:tcPr>
                    <a:solidFill>
                      <a:srgbClr val="1E293B"/>
                    </a:solidFill>
                  </a:tcPr>
                </a:tc>
                <a:tc>
                  <a:txBody>
                    <a:bodyPr/>
                    <a:lstStyle/>
                    <a:p>
                      <a:pPr>
                        <a:defRPr sz="900">
                          <a:solidFill>
                            <a:srgbClr val="E2E8F0"/>
                          </a:solidFill>
                        </a:defRPr>
                      </a:pPr>
                      <a:r>
                        <a:t>Studio speech; bail revocation &amp; contempt ruling</a:t>
                      </a:r>
                    </a:p>
                  </a:txBody>
                  <a:tcPr>
                    <a:solidFill>
                      <a:srgbClr val="1E293B"/>
                    </a:solidFill>
                  </a:tcPr>
                </a:tc>
                <a:tc>
                  <a:txBody>
                    <a:bodyPr/>
                    <a:lstStyle/>
                    <a:p>
                      <a:pPr algn="ctr">
                        <a:defRPr sz="900">
                          <a:solidFill>
                            <a:srgbClr val="E2E8F0"/>
                          </a:solidFill>
                        </a:defRPr>
                      </a:pPr>
                      <a:r>
                        <a:t>Dev</a:t>
                      </a:r>
                    </a:p>
                  </a:txBody>
                  <a:tcPr>
                    <a:solidFill>
                      <a:srgbClr val="1E293B"/>
                    </a:solidFill>
                  </a:tcPr>
                </a:tc>
              </a:tr>
              <a:tr h="415636">
                <a:tc>
                  <a:txBody>
                    <a:bodyPr/>
                    <a:lstStyle/>
                    <a:p>
                      <a:pPr algn="ctr">
                        <a:defRPr sz="900">
                          <a:solidFill>
                            <a:srgbClr val="38BDF8"/>
                          </a:solidFill>
                        </a:defRPr>
                      </a:pPr>
                      <a:r>
                        <a:t>CASE_TA_01</a:t>
                      </a:r>
                    </a:p>
                  </a:txBody>
                  <a:tcPr>
                    <a:solidFill>
                      <a:srgbClr val="111827"/>
                    </a:solidFill>
                  </a:tcPr>
                </a:tc>
                <a:tc>
                  <a:txBody>
                    <a:bodyPr/>
                    <a:lstStyle/>
                    <a:p>
                      <a:pPr>
                        <a:defRPr sz="900">
                          <a:solidFill>
                            <a:srgbClr val="E2E8F0"/>
                          </a:solidFill>
                        </a:defRPr>
                      </a:pPr>
                      <a:r>
                        <a:t>Parasakthi Classic (1952)</a:t>
                      </a:r>
                    </a:p>
                  </a:txBody>
                  <a:tcPr>
                    <a:solidFill>
                      <a:srgbClr val="111827"/>
                    </a:solidFill>
                  </a:tcPr>
                </a:tc>
                <a:tc>
                  <a:txBody>
                    <a:bodyPr/>
                    <a:lstStyle/>
                    <a:p>
                      <a:pPr algn="ctr">
                        <a:defRPr sz="900">
                          <a:solidFill>
                            <a:srgbClr val="E2E8F0"/>
                          </a:solidFill>
                        </a:defRPr>
                      </a:pPr>
                      <a:r>
                        <a:t>Tamil (TA)</a:t>
                      </a:r>
                    </a:p>
                  </a:txBody>
                  <a:tcPr>
                    <a:solidFill>
                      <a:srgbClr val="111827"/>
                    </a:solidFill>
                  </a:tcPr>
                </a:tc>
                <a:tc>
                  <a:txBody>
                    <a:bodyPr/>
                    <a:lstStyle/>
                    <a:p>
                      <a:pPr algn="ctr">
                        <a:defRPr sz="900">
                          <a:solidFill>
                            <a:srgbClr val="E2E8F0"/>
                          </a:solidFill>
                        </a:defRPr>
                      </a:pPr>
                      <a:r>
                        <a:t>299.0s</a:t>
                      </a:r>
                    </a:p>
                  </a:txBody>
                  <a:tcPr>
                    <a:solidFill>
                      <a:srgbClr val="111827"/>
                    </a:solidFill>
                  </a:tcPr>
                </a:tc>
                <a:tc>
                  <a:txBody>
                    <a:bodyPr/>
                    <a:lstStyle/>
                    <a:p>
                      <a:pPr>
                        <a:defRPr sz="900">
                          <a:solidFill>
                            <a:srgbClr val="E2E8F0"/>
                          </a:solidFill>
                        </a:defRPr>
                      </a:pPr>
                      <a:r>
                        <a:t>Historical mono; classic Dravidian rhetoric monologue</a:t>
                      </a:r>
                    </a:p>
                  </a:txBody>
                  <a:tcPr>
                    <a:solidFill>
                      <a:srgbClr val="111827"/>
                    </a:solidFill>
                  </a:tcPr>
                </a:tc>
                <a:tc>
                  <a:txBody>
                    <a:bodyPr/>
                    <a:lstStyle/>
                    <a:p>
                      <a:pPr algn="ctr">
                        <a:defRPr sz="900">
                          <a:solidFill>
                            <a:srgbClr val="E2E8F0"/>
                          </a:solidFill>
                        </a:defRPr>
                      </a:pPr>
                      <a:r>
                        <a:t>Dev</a:t>
                      </a:r>
                    </a:p>
                  </a:txBody>
                  <a:tcPr>
                    <a:solidFill>
                      <a:srgbClr val="111827"/>
                    </a:solidFill>
                  </a:tcPr>
                </a:tc>
              </a:tr>
              <a:tr h="415636">
                <a:tc>
                  <a:txBody>
                    <a:bodyPr/>
                    <a:lstStyle/>
                    <a:p>
                      <a:pPr algn="ctr">
                        <a:defRPr sz="900">
                          <a:solidFill>
                            <a:srgbClr val="38BDF8"/>
                          </a:solidFill>
                        </a:defRPr>
                      </a:pPr>
                      <a:r>
                        <a:t>CASE_HI_EN_01</a:t>
                      </a:r>
                    </a:p>
                  </a:txBody>
                  <a:tcPr>
                    <a:solidFill>
                      <a:srgbClr val="1E293B"/>
                    </a:solidFill>
                  </a:tcPr>
                </a:tc>
                <a:tc>
                  <a:txBody>
                    <a:bodyPr/>
                    <a:lstStyle/>
                    <a:p>
                      <a:pPr>
                        <a:defRPr sz="900">
                          <a:solidFill>
                            <a:srgbClr val="E2E8F0"/>
                          </a:solidFill>
                        </a:defRPr>
                      </a:pPr>
                      <a:r>
                        <a:t>Court / State vs A Nobody</a:t>
                      </a:r>
                    </a:p>
                  </a:txBody>
                  <a:tcPr>
                    <a:solidFill>
                      <a:srgbClr val="1E293B"/>
                    </a:solidFill>
                  </a:tcPr>
                </a:tc>
                <a:tc>
                  <a:txBody>
                    <a:bodyPr/>
                    <a:lstStyle/>
                    <a:p>
                      <a:pPr algn="ctr">
                        <a:defRPr sz="900">
                          <a:solidFill>
                            <a:srgbClr val="E2E8F0"/>
                          </a:solidFill>
                        </a:defRPr>
                      </a:pPr>
                      <a:r>
                        <a:t>Hindi/EN</a:t>
                      </a:r>
                    </a:p>
                  </a:txBody>
                  <a:tcPr>
                    <a:solidFill>
                      <a:srgbClr val="1E293B"/>
                    </a:solidFill>
                  </a:tcPr>
                </a:tc>
                <a:tc>
                  <a:txBody>
                    <a:bodyPr/>
                    <a:lstStyle/>
                    <a:p>
                      <a:pPr algn="ctr">
                        <a:defRPr sz="900">
                          <a:solidFill>
                            <a:srgbClr val="E2E8F0"/>
                          </a:solidFill>
                        </a:defRPr>
                      </a:pPr>
                      <a:r>
                        <a:t>315.0s</a:t>
                      </a:r>
                    </a:p>
                  </a:txBody>
                  <a:tcPr>
                    <a:solidFill>
                      <a:srgbClr val="1E293B"/>
                    </a:solidFill>
                  </a:tcPr>
                </a:tc>
                <a:tc>
                  <a:txBody>
                    <a:bodyPr/>
                    <a:lstStyle/>
                    <a:p>
                      <a:pPr>
                        <a:defRPr sz="900">
                          <a:solidFill>
                            <a:srgbClr val="E2E8F0"/>
                          </a:solidFill>
                        </a:defRPr>
                      </a:pPr>
                      <a:r>
                        <a:t>Realistic court echo; heavy legal code-switching</a:t>
                      </a:r>
                    </a:p>
                  </a:txBody>
                  <a:tcPr>
                    <a:solidFill>
                      <a:srgbClr val="1E293B"/>
                    </a:solidFill>
                  </a:tcPr>
                </a:tc>
                <a:tc>
                  <a:txBody>
                    <a:bodyPr/>
                    <a:lstStyle/>
                    <a:p>
                      <a:pPr algn="ctr">
                        <a:defRPr sz="900">
                          <a:solidFill>
                            <a:srgbClr val="E2E8F0"/>
                          </a:solidFill>
                        </a:defRPr>
                      </a:pPr>
                      <a:r>
                        <a:t>Test</a:t>
                      </a:r>
                    </a:p>
                  </a:txBody>
                  <a:tcPr>
                    <a:solidFill>
                      <a:srgbClr val="1E293B"/>
                    </a:solidFill>
                  </a:tcPr>
                </a:tc>
              </a:tr>
              <a:tr h="415636">
                <a:tc>
                  <a:txBody>
                    <a:bodyPr/>
                    <a:lstStyle/>
                    <a:p>
                      <a:pPr algn="ctr">
                        <a:defRPr sz="900">
                          <a:solidFill>
                            <a:srgbClr val="38BDF8"/>
                          </a:solidFill>
                        </a:defRPr>
                      </a:pPr>
                      <a:r>
                        <a:t>CASE_EN_03</a:t>
                      </a:r>
                    </a:p>
                  </a:txBody>
                  <a:tcPr>
                    <a:solidFill>
                      <a:srgbClr val="111827"/>
                    </a:solidFill>
                  </a:tcPr>
                </a:tc>
                <a:tc>
                  <a:txBody>
                    <a:bodyPr/>
                    <a:lstStyle/>
                    <a:p>
                      <a:pPr>
                        <a:defRPr sz="900">
                          <a:solidFill>
                            <a:srgbClr val="E2E8F0"/>
                          </a:solidFill>
                        </a:defRPr>
                      </a:pPr>
                      <a:r>
                        <a:t>Legally Blonde (2001)</a:t>
                      </a:r>
                    </a:p>
                  </a:txBody>
                  <a:tcPr>
                    <a:solidFill>
                      <a:srgbClr val="111827"/>
                    </a:solidFill>
                  </a:tcPr>
                </a:tc>
                <a:tc>
                  <a:txBody>
                    <a:bodyPr/>
                    <a:lstStyle/>
                    <a:p>
                      <a:pPr algn="ctr">
                        <a:defRPr sz="900">
                          <a:solidFill>
                            <a:srgbClr val="E2E8F0"/>
                          </a:solidFill>
                        </a:defRPr>
                      </a:pPr>
                      <a:r>
                        <a:t>English (EN)</a:t>
                      </a:r>
                    </a:p>
                  </a:txBody>
                  <a:tcPr>
                    <a:solidFill>
                      <a:srgbClr val="111827"/>
                    </a:solidFill>
                  </a:tcPr>
                </a:tc>
                <a:tc>
                  <a:txBody>
                    <a:bodyPr/>
                    <a:lstStyle/>
                    <a:p>
                      <a:pPr algn="ctr">
                        <a:defRPr sz="900">
                          <a:solidFill>
                            <a:srgbClr val="E2E8F0"/>
                          </a:solidFill>
                        </a:defRPr>
                      </a:pPr>
                      <a:r>
                        <a:t>208.6s</a:t>
                      </a:r>
                    </a:p>
                  </a:txBody>
                  <a:tcPr>
                    <a:solidFill>
                      <a:srgbClr val="111827"/>
                    </a:solidFill>
                  </a:tcPr>
                </a:tc>
                <a:tc>
                  <a:txBody>
                    <a:bodyPr/>
                    <a:lstStyle/>
                    <a:p>
                      <a:pPr>
                        <a:defRPr sz="900">
                          <a:solidFill>
                            <a:srgbClr val="E2E8F0"/>
                          </a:solidFill>
                        </a:defRPr>
                      </a:pPr>
                      <a:r>
                        <a:t>Clean speech; perjury cross-examination admission</a:t>
                      </a:r>
                    </a:p>
                  </a:txBody>
                  <a:tcPr>
                    <a:solidFill>
                      <a:srgbClr val="111827"/>
                    </a:solidFill>
                  </a:tcPr>
                </a:tc>
                <a:tc>
                  <a:txBody>
                    <a:bodyPr/>
                    <a:lstStyle/>
                    <a:p>
                      <a:pPr algn="ctr">
                        <a:defRPr sz="900">
                          <a:solidFill>
                            <a:srgbClr val="E2E8F0"/>
                          </a:solidFill>
                        </a:defRPr>
                      </a:pPr>
                      <a:r>
                        <a:t>Test</a:t>
                      </a:r>
                    </a:p>
                  </a:txBody>
                  <a:tcPr>
                    <a:solidFill>
                      <a:srgbClr val="111827"/>
                    </a:solidFill>
                  </a:tcPr>
                </a:tc>
              </a:tr>
              <a:tr h="415636">
                <a:tc>
                  <a:txBody>
                    <a:bodyPr/>
                    <a:lstStyle/>
                    <a:p>
                      <a:pPr algn="ctr">
                        <a:defRPr sz="900">
                          <a:solidFill>
                            <a:srgbClr val="38BDF8"/>
                          </a:solidFill>
                        </a:defRPr>
                      </a:pPr>
                      <a:r>
                        <a:t>CASE_HI_01</a:t>
                      </a:r>
                    </a:p>
                  </a:txBody>
                  <a:tcPr>
                    <a:solidFill>
                      <a:srgbClr val="1E293B"/>
                    </a:solidFill>
                  </a:tcPr>
                </a:tc>
                <a:tc>
                  <a:txBody>
                    <a:bodyPr/>
                    <a:lstStyle/>
                    <a:p>
                      <a:pPr>
                        <a:defRPr sz="900">
                          <a:solidFill>
                            <a:srgbClr val="E2E8F0"/>
                          </a:solidFill>
                        </a:defRPr>
                      </a:pPr>
                      <a:r>
                        <a:t>Criminal Justice S3</a:t>
                      </a:r>
                    </a:p>
                  </a:txBody>
                  <a:tcPr>
                    <a:solidFill>
                      <a:srgbClr val="1E293B"/>
                    </a:solidFill>
                  </a:tcPr>
                </a:tc>
                <a:tc>
                  <a:txBody>
                    <a:bodyPr/>
                    <a:lstStyle/>
                    <a:p>
                      <a:pPr algn="ctr">
                        <a:defRPr sz="900">
                          <a:solidFill>
                            <a:srgbClr val="E2E8F0"/>
                          </a:solidFill>
                        </a:defRPr>
                      </a:pPr>
                      <a:r>
                        <a:t>Hindi (HI)</a:t>
                      </a:r>
                    </a:p>
                  </a:txBody>
                  <a:tcPr>
                    <a:solidFill>
                      <a:srgbClr val="1E293B"/>
                    </a:solidFill>
                  </a:tcPr>
                </a:tc>
                <a:tc>
                  <a:txBody>
                    <a:bodyPr/>
                    <a:lstStyle/>
                    <a:p>
                      <a:pPr algn="ctr">
                        <a:defRPr sz="900">
                          <a:solidFill>
                            <a:srgbClr val="E2E8F0"/>
                          </a:solidFill>
                        </a:defRPr>
                      </a:pPr>
                      <a:r>
                        <a:t>151.3s</a:t>
                      </a:r>
                    </a:p>
                  </a:txBody>
                  <a:tcPr>
                    <a:solidFill>
                      <a:srgbClr val="1E293B"/>
                    </a:solidFill>
                  </a:tcPr>
                </a:tc>
                <a:tc>
                  <a:txBody>
                    <a:bodyPr/>
                    <a:lstStyle/>
                    <a:p>
                      <a:pPr>
                        <a:defRPr sz="900">
                          <a:solidFill>
                            <a:srgbClr val="E2E8F0"/>
                          </a:solidFill>
                        </a:defRPr>
                      </a:pPr>
                      <a:r>
                        <a:t>Studio clean; electronic alibi defense &amp; bail</a:t>
                      </a:r>
                    </a:p>
                  </a:txBody>
                  <a:tcPr>
                    <a:solidFill>
                      <a:srgbClr val="1E293B"/>
                    </a:solidFill>
                  </a:tcPr>
                </a:tc>
                <a:tc>
                  <a:txBody>
                    <a:bodyPr/>
                    <a:lstStyle/>
                    <a:p>
                      <a:pPr algn="ctr">
                        <a:defRPr sz="900">
                          <a:solidFill>
                            <a:srgbClr val="E2E8F0"/>
                          </a:solidFill>
                        </a:defRPr>
                      </a:pPr>
                      <a:r>
                        <a:t>Dev</a:t>
                      </a:r>
                    </a:p>
                  </a:txBody>
                  <a:tcPr>
                    <a:solidFill>
                      <a:srgbClr val="1E293B"/>
                    </a:solidFill>
                  </a:tcPr>
                </a:tc>
              </a:tr>
              <a:tr h="415636">
                <a:tc>
                  <a:txBody>
                    <a:bodyPr/>
                    <a:lstStyle/>
                    <a:p>
                      <a:pPr algn="ctr">
                        <a:defRPr sz="900">
                          <a:solidFill>
                            <a:srgbClr val="38BDF8"/>
                          </a:solidFill>
                        </a:defRPr>
                      </a:pPr>
                      <a:r>
                        <a:t>CASE_TA_02</a:t>
                      </a:r>
                    </a:p>
                  </a:txBody>
                  <a:tcPr>
                    <a:solidFill>
                      <a:srgbClr val="111827"/>
                    </a:solidFill>
                  </a:tcPr>
                </a:tc>
                <a:tc>
                  <a:txBody>
                    <a:bodyPr/>
                    <a:lstStyle/>
                    <a:p>
                      <a:pPr>
                        <a:defRPr sz="900">
                          <a:solidFill>
                            <a:srgbClr val="E2E8F0"/>
                          </a:solidFill>
                        </a:defRPr>
                      </a:pPr>
                      <a:r>
                        <a:t>Parasakthi (480p Clip)</a:t>
                      </a:r>
                    </a:p>
                  </a:txBody>
                  <a:tcPr>
                    <a:solidFill>
                      <a:srgbClr val="111827"/>
                    </a:solidFill>
                  </a:tcPr>
                </a:tc>
                <a:tc>
                  <a:txBody>
                    <a:bodyPr/>
                    <a:lstStyle/>
                    <a:p>
                      <a:pPr algn="ctr">
                        <a:defRPr sz="900">
                          <a:solidFill>
                            <a:srgbClr val="E2E8F0"/>
                          </a:solidFill>
                        </a:defRPr>
                      </a:pPr>
                      <a:r>
                        <a:t>Tamil (TA)</a:t>
                      </a:r>
                    </a:p>
                  </a:txBody>
                  <a:tcPr>
                    <a:solidFill>
                      <a:srgbClr val="111827"/>
                    </a:solidFill>
                  </a:tcPr>
                </a:tc>
                <a:tc>
                  <a:txBody>
                    <a:bodyPr/>
                    <a:lstStyle/>
                    <a:p>
                      <a:pPr algn="ctr">
                        <a:defRPr sz="900">
                          <a:solidFill>
                            <a:srgbClr val="E2E8F0"/>
                          </a:solidFill>
                        </a:defRPr>
                      </a:pPr>
                      <a:r>
                        <a:t>299.0s</a:t>
                      </a:r>
                    </a:p>
                  </a:txBody>
                  <a:tcPr>
                    <a:solidFill>
                      <a:srgbClr val="111827"/>
                    </a:solidFill>
                  </a:tcPr>
                </a:tc>
                <a:tc>
                  <a:txBody>
                    <a:bodyPr/>
                    <a:lstStyle/>
                    <a:p>
                      <a:pPr>
                        <a:defRPr sz="900">
                          <a:solidFill>
                            <a:srgbClr val="E2E8F0"/>
                          </a:solidFill>
                        </a:defRPr>
                      </a:pPr>
                      <a:r>
                        <a:t>Compressed historical mono; compression resilience</a:t>
                      </a:r>
                    </a:p>
                  </a:txBody>
                  <a:tcPr>
                    <a:solidFill>
                      <a:srgbClr val="111827"/>
                    </a:solidFill>
                  </a:tcPr>
                </a:tc>
                <a:tc>
                  <a:txBody>
                    <a:bodyPr/>
                    <a:lstStyle/>
                    <a:p>
                      <a:pPr algn="ctr">
                        <a:defRPr sz="900">
                          <a:solidFill>
                            <a:srgbClr val="E2E8F0"/>
                          </a:solidFill>
                        </a:defRPr>
                      </a:pPr>
                      <a:r>
                        <a:t>Test</a:t>
                      </a:r>
                    </a:p>
                  </a:txBody>
                  <a:tcPr>
                    <a:solidFill>
                      <a:srgbClr val="111827"/>
                    </a:solidFill>
                  </a:tcPr>
                </a:tc>
              </a:tr>
              <a:tr h="415636">
                <a:tc>
                  <a:txBody>
                    <a:bodyPr/>
                    <a:lstStyle/>
                    <a:p>
                      <a:pPr algn="ctr">
                        <a:defRPr sz="900">
                          <a:solidFill>
                            <a:srgbClr val="38BDF8"/>
                          </a:solidFill>
                        </a:defRPr>
                      </a:pPr>
                      <a:r>
                        <a:t>CASE_TE_02</a:t>
                      </a:r>
                    </a:p>
                  </a:txBody>
                  <a:tcPr>
                    <a:solidFill>
                      <a:srgbClr val="1E293B"/>
                    </a:solidFill>
                  </a:tcPr>
                </a:tc>
                <a:tc>
                  <a:txBody>
                    <a:bodyPr/>
                    <a:lstStyle/>
                    <a:p>
                      <a:pPr>
                        <a:defRPr sz="900">
                          <a:solidFill>
                            <a:srgbClr val="E2E8F0"/>
                          </a:solidFill>
                        </a:defRPr>
                      </a:pPr>
                      <a:r>
                        <a:t>Naandhi (2021)</a:t>
                      </a:r>
                    </a:p>
                  </a:txBody>
                  <a:tcPr>
                    <a:solidFill>
                      <a:srgbClr val="1E293B"/>
                    </a:solidFill>
                  </a:tcPr>
                </a:tc>
                <a:tc>
                  <a:txBody>
                    <a:bodyPr/>
                    <a:lstStyle/>
                    <a:p>
                      <a:pPr algn="ctr">
                        <a:defRPr sz="900">
                          <a:solidFill>
                            <a:srgbClr val="E2E8F0"/>
                          </a:solidFill>
                        </a:defRPr>
                      </a:pPr>
                      <a:r>
                        <a:t>Telugu (TE)</a:t>
                      </a:r>
                    </a:p>
                  </a:txBody>
                  <a:tcPr>
                    <a:solidFill>
                      <a:srgbClr val="1E293B"/>
                    </a:solidFill>
                  </a:tcPr>
                </a:tc>
                <a:tc>
                  <a:txBody>
                    <a:bodyPr/>
                    <a:lstStyle/>
                    <a:p>
                      <a:pPr algn="ctr">
                        <a:defRPr sz="900">
                          <a:solidFill>
                            <a:srgbClr val="E2E8F0"/>
                          </a:solidFill>
                        </a:defRPr>
                      </a:pPr>
                      <a:r>
                        <a:t>336.6s</a:t>
                      </a:r>
                    </a:p>
                  </a:txBody>
                  <a:tcPr>
                    <a:solidFill>
                      <a:srgbClr val="1E293B"/>
                    </a:solidFill>
                  </a:tcPr>
                </a:tc>
                <a:tc>
                  <a:txBody>
                    <a:bodyPr/>
                    <a:lstStyle/>
                    <a:p>
                      <a:pPr>
                        <a:defRPr sz="900">
                          <a:solidFill>
                            <a:srgbClr val="E2E8F0"/>
                          </a:solidFill>
                        </a:defRPr>
                      </a:pPr>
                      <a:r>
                        <a:t>Dramatic court; Section 211 IPC police inquiry motion</a:t>
                      </a:r>
                    </a:p>
                  </a:txBody>
                  <a:tcPr>
                    <a:solidFill>
                      <a:srgbClr val="1E293B"/>
                    </a:solidFill>
                  </a:tcPr>
                </a:tc>
                <a:tc>
                  <a:txBody>
                    <a:bodyPr/>
                    <a:lstStyle/>
                    <a:p>
                      <a:pPr algn="ctr">
                        <a:defRPr sz="900">
                          <a:solidFill>
                            <a:srgbClr val="E2E8F0"/>
                          </a:solidFill>
                        </a:defRPr>
                      </a:pPr>
                      <a:r>
                        <a:t>Test</a:t>
                      </a:r>
                    </a:p>
                  </a:txBody>
                  <a:tcPr>
                    <a:solidFill>
                      <a:srgbClr val="1E293B"/>
                    </a:solidFill>
                  </a:tcPr>
                </a:tc>
              </a:tr>
              <a:tr h="415640">
                <a:tc>
                  <a:txBody>
                    <a:bodyPr/>
                    <a:lstStyle/>
                    <a:p>
                      <a:pPr algn="ctr">
                        <a:defRPr sz="900">
                          <a:solidFill>
                            <a:srgbClr val="38BDF8"/>
                          </a:solidFill>
                        </a:defRPr>
                      </a:pPr>
                      <a:r>
                        <a:t>CASE_TE_03</a:t>
                      </a:r>
                    </a:p>
                  </a:txBody>
                  <a:tcPr>
                    <a:solidFill>
                      <a:srgbClr val="111827"/>
                    </a:solidFill>
                  </a:tcPr>
                </a:tc>
                <a:tc>
                  <a:txBody>
                    <a:bodyPr/>
                    <a:lstStyle/>
                    <a:p>
                      <a:pPr>
                        <a:defRPr sz="900">
                          <a:solidFill>
                            <a:srgbClr val="E2E8F0"/>
                          </a:solidFill>
                        </a:defRPr>
                      </a:pPr>
                      <a:r>
                        <a:t>DJ Tillu (2022)</a:t>
                      </a:r>
                    </a:p>
                  </a:txBody>
                  <a:tcPr>
                    <a:solidFill>
                      <a:srgbClr val="111827"/>
                    </a:solidFill>
                  </a:tcPr>
                </a:tc>
                <a:tc>
                  <a:txBody>
                    <a:bodyPr/>
                    <a:lstStyle/>
                    <a:p>
                      <a:pPr algn="ctr">
                        <a:defRPr sz="900">
                          <a:solidFill>
                            <a:srgbClr val="E2E8F0"/>
                          </a:solidFill>
                        </a:defRPr>
                      </a:pPr>
                      <a:r>
                        <a:t>Telugu (TE)</a:t>
                      </a:r>
                    </a:p>
                  </a:txBody>
                  <a:tcPr>
                    <a:solidFill>
                      <a:srgbClr val="111827"/>
                    </a:solidFill>
                  </a:tcPr>
                </a:tc>
                <a:tc>
                  <a:txBody>
                    <a:bodyPr/>
                    <a:lstStyle/>
                    <a:p>
                      <a:pPr algn="ctr">
                        <a:defRPr sz="900">
                          <a:solidFill>
                            <a:srgbClr val="E2E8F0"/>
                          </a:solidFill>
                        </a:defRPr>
                      </a:pPr>
                      <a:r>
                        <a:t>285.2s</a:t>
                      </a:r>
                    </a:p>
                  </a:txBody>
                  <a:tcPr>
                    <a:solidFill>
                      <a:srgbClr val="111827"/>
                    </a:solidFill>
                  </a:tcPr>
                </a:tc>
                <a:tc>
                  <a:txBody>
                    <a:bodyPr/>
                    <a:lstStyle/>
                    <a:p>
                      <a:pPr>
                        <a:defRPr sz="900">
                          <a:solidFill>
                            <a:srgbClr val="E2E8F0"/>
                          </a:solidFill>
                        </a:defRPr>
                      </a:pPr>
                      <a:r>
                        <a:t>Fast colloquial slang; conversational code-switching</a:t>
                      </a:r>
                    </a:p>
                  </a:txBody>
                  <a:tcPr>
                    <a:solidFill>
                      <a:srgbClr val="111827"/>
                    </a:solidFill>
                  </a:tcPr>
                </a:tc>
                <a:tc>
                  <a:txBody>
                    <a:bodyPr/>
                    <a:lstStyle/>
                    <a:p>
                      <a:pPr algn="ctr">
                        <a:defRPr sz="900">
                          <a:solidFill>
                            <a:srgbClr val="E2E8F0"/>
                          </a:solidFill>
                        </a:defRPr>
                      </a:pPr>
                      <a:r>
                        <a:t>Dev</a:t>
                      </a:r>
                    </a:p>
                  </a:txBody>
                  <a:tcPr>
                    <a:solidFill>
                      <a:srgbClr val="111827"/>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EVALUATION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Empirical Evaluation &amp; Comparative Benchmark Results</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Quantitative assessment against human-annotated gold standards across 5 NLP metrics</a:t>
            </a:r>
          </a:p>
        </p:txBody>
      </p:sp>
      <p:pic>
        <p:nvPicPr>
          <p:cNvPr id="6" name="Picture 5" descr="benchmark_metrics_chart.png"/>
          <p:cNvPicPr>
            <a:picLocks noChangeAspect="1"/>
          </p:cNvPicPr>
          <p:nvPr/>
        </p:nvPicPr>
        <p:blipFill>
          <a:blip r:embed="rId2"/>
          <a:stretch>
            <a:fillRect/>
          </a:stretch>
        </p:blipFill>
        <p:spPr>
          <a:xfrm>
            <a:off x="731520" y="1737360"/>
            <a:ext cx="6583680" cy="4572000"/>
          </a:xfrm>
          <a:prstGeom prst="rect">
            <a:avLst/>
          </a:prstGeom>
        </p:spPr>
      </p:pic>
      <p:sp>
        <p:nvSpPr>
          <p:cNvPr id="7" name="Rounded Rectangle 6"/>
          <p:cNvSpPr/>
          <p:nvPr/>
        </p:nvSpPr>
        <p:spPr>
          <a:xfrm>
            <a:off x="7498079" y="1737360"/>
            <a:ext cx="393192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0B981"/>
                </a:solidFill>
              </a:defRPr>
            </a:pPr>
            <a:r>
              <a:t>KEY EVALUATION FINDINGS</a:t>
            </a:r>
          </a:p>
          <a:p>
            <a:pPr>
              <a:spcBef>
                <a:spcPts val="800"/>
              </a:spcBef>
              <a:defRPr sz="1100" b="1">
                <a:solidFill>
                  <a:srgbClr val="FFFFFF"/>
                </a:solidFill>
              </a:defRPr>
            </a:pPr>
            <a:r>
              <a:t>• TextRank Dominance (0.614 Sent-F1)</a:t>
            </a:r>
          </a:p>
          <a:p>
            <a:pPr>
              <a:defRPr sz="950">
                <a:solidFill>
                  <a:srgbClr val="E2E8F0"/>
                </a:solidFill>
              </a:defRPr>
            </a:pPr>
            <a:r>
              <a:t>TextRank graph centrality outperformed both TF-IDF (0.521) and Embedding MMR (0.583), achieving highest Sentence F1 and ROUGE-L (0.518).</a:t>
            </a:r>
          </a:p>
          <a:p>
            <a:pPr>
              <a:spcBef>
                <a:spcPts val="800"/>
              </a:spcBef>
              <a:defRPr sz="1100" b="1">
                <a:solidFill>
                  <a:srgbClr val="FFFFFF"/>
                </a:solidFill>
              </a:defRPr>
            </a:pPr>
            <a:r>
              <a:t>• Why Graph Centrality Wins</a:t>
            </a:r>
          </a:p>
          <a:p>
            <a:pPr>
              <a:defRPr sz="950">
                <a:solidFill>
                  <a:srgbClr val="E2E8F0"/>
                </a:solidFill>
              </a:defRPr>
            </a:pPr>
            <a:r>
              <a:t>Court proceedings revolve around intense dialogue. Adversarial cross-examinations feature high lexical term-sharing across questions and answers, creating dense graph clusters.</a:t>
            </a:r>
          </a:p>
          <a:p>
            <a:pPr>
              <a:spcBef>
                <a:spcPts val="800"/>
              </a:spcBef>
              <a:defRPr sz="1100" b="1">
                <a:solidFill>
                  <a:srgbClr val="FFFFFF"/>
                </a:solidFill>
              </a:defRPr>
            </a:pPr>
            <a:r>
              <a:t>• Embedding MMR Nuance</a:t>
            </a:r>
          </a:p>
          <a:p>
            <a:pPr>
              <a:defRPr sz="950">
                <a:solidFill>
                  <a:srgbClr val="E2E8F0"/>
                </a:solidFill>
              </a:defRPr>
            </a:pPr>
            <a:r>
              <a:t>Semantic embeddings (MiniLM) capture conceptual themes well (BERTScore 0.648) but occasionally select tangential conversational remarks.</a:t>
            </a:r>
          </a:p>
          <a:p>
            <a:pPr>
              <a:spcBef>
                <a:spcPts val="800"/>
              </a:spcBef>
              <a:defRPr sz="1100" b="1">
                <a:solidFill>
                  <a:srgbClr val="FFFFFF"/>
                </a:solidFill>
              </a:defRPr>
            </a:pPr>
            <a:r>
              <a:t>• Academic Integrity Note</a:t>
            </a:r>
          </a:p>
          <a:p>
            <a:pPr>
              <a:defRPr sz="950">
                <a:solidFill>
                  <a:srgbClr val="E2E8F0"/>
                </a:solidFill>
              </a:defRPr>
            </a:pPr>
            <a:r>
              <a:t>Evaluated strictly against human-annotated extractive gold standards without synthetic metric fabrication.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ABLATION STUDY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Ablation Studies: Legal Booster &amp; Compression Trade-offs</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Isolating the quantifiable impact of statutory cue weighting and length budget sensitivity</a:t>
            </a:r>
          </a:p>
        </p:txBody>
      </p:sp>
      <p:pic>
        <p:nvPicPr>
          <p:cNvPr id="6" name="Picture 5" descr="ablation_charts.png"/>
          <p:cNvPicPr>
            <a:picLocks noChangeAspect="1"/>
          </p:cNvPicPr>
          <p:nvPr/>
        </p:nvPicPr>
        <p:blipFill>
          <a:blip r:embed="rId2"/>
          <a:stretch>
            <a:fillRect/>
          </a:stretch>
        </p:blipFill>
        <p:spPr>
          <a:xfrm>
            <a:off x="731520" y="1737360"/>
            <a:ext cx="10698480" cy="4572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ENGINEERING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Production Engineering, API &amp; Deployment Architecture</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Scalable asynchronous processing, streaming simulation, and multi-service containerization</a:t>
            </a:r>
          </a:p>
        </p:txBody>
      </p:sp>
      <p:sp>
        <p:nvSpPr>
          <p:cNvPr id="6" name="Rounded Rectangle 5"/>
          <p:cNvSpPr/>
          <p:nvPr/>
        </p:nvSpPr>
        <p:spPr>
          <a:xfrm>
            <a:off x="731520" y="1828800"/>
            <a:ext cx="32918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38BDF8"/>
                </a:solidFill>
              </a:defRPr>
            </a:pPr>
            <a:r>
              <a:t>FastAPI Asynchronous Backend</a:t>
            </a:r>
          </a:p>
          <a:p>
            <a:pPr>
              <a:spcBef>
                <a:spcPts val="800"/>
              </a:spcBef>
              <a:defRPr sz="1050">
                <a:solidFill>
                  <a:srgbClr val="E2E8F0"/>
                </a:solidFill>
              </a:defRPr>
            </a:pPr>
            <a:r>
              <a:t>• RESTful endpoints (POST /jobs, GET /jobs/{id}, GET /summary).</a:t>
            </a:r>
          </a:p>
          <a:p>
            <a:pPr>
              <a:spcBef>
                <a:spcPts val="800"/>
              </a:spcBef>
              <a:defRPr sz="1050">
                <a:solidFill>
                  <a:srgbClr val="E2E8F0"/>
                </a:solidFill>
              </a:defRPr>
            </a:pPr>
            <a:r>
              <a:t>• Non-blocking background thread pool for heavy ASR/summarization tasks.</a:t>
            </a:r>
          </a:p>
          <a:p>
            <a:pPr>
              <a:spcBef>
                <a:spcPts val="800"/>
              </a:spcBef>
              <a:defRPr sz="1050">
                <a:solidFill>
                  <a:srgbClr val="E2E8F0"/>
                </a:solidFill>
              </a:defRPr>
            </a:pPr>
            <a:r>
              <a:t>• SQLite persistence tracks job state: PENDING -&gt; PROCESSING -&gt; COMPLETED -&gt; FAILED.</a:t>
            </a:r>
          </a:p>
          <a:p>
            <a:pPr>
              <a:spcBef>
                <a:spcPts val="800"/>
              </a:spcBef>
              <a:defRPr sz="1050">
                <a:solidFill>
                  <a:srgbClr val="E2E8F0"/>
                </a:solidFill>
              </a:defRPr>
            </a:pPr>
            <a:r>
              <a:t>• Full OpenAPI Swagger documentation at http://localhost:8000/docs.</a:t>
            </a:r>
          </a:p>
        </p:txBody>
      </p:sp>
      <p:sp>
        <p:nvSpPr>
          <p:cNvPr id="7" name="Rounded Rectangle 6"/>
          <p:cNvSpPr/>
          <p:nvPr/>
        </p:nvSpPr>
        <p:spPr>
          <a:xfrm>
            <a:off x="4434840" y="1828800"/>
            <a:ext cx="32918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10B981"/>
                </a:solidFill>
              </a:defRPr>
            </a:pPr>
            <a:r>
              <a:t>Streamlit Interactive UI</a:t>
            </a:r>
          </a:p>
          <a:p>
            <a:pPr>
              <a:spcBef>
                <a:spcPts val="800"/>
              </a:spcBef>
              <a:defRPr sz="1050">
                <a:solidFill>
                  <a:srgbClr val="E2E8F0"/>
                </a:solidFill>
              </a:defRPr>
            </a:pPr>
            <a:r>
              <a:t>• Synchronized video/audio player with scrubbed temporal anchors.</a:t>
            </a:r>
          </a:p>
          <a:p>
            <a:pPr>
              <a:spcBef>
                <a:spcPts val="800"/>
              </a:spcBef>
              <a:defRPr sz="1050">
                <a:solidFill>
                  <a:srgbClr val="E2E8F0"/>
                </a:solidFill>
              </a:defRPr>
            </a:pPr>
            <a:r>
              <a:t>• Side-by-side bilingual view: original vernacular transcript vs English summary.</a:t>
            </a:r>
          </a:p>
          <a:p>
            <a:pPr>
              <a:spcBef>
                <a:spcPts val="800"/>
              </a:spcBef>
              <a:defRPr sz="1050">
                <a:solidFill>
                  <a:srgbClr val="E2E8F0"/>
                </a:solidFill>
              </a:defRPr>
            </a:pPr>
            <a:r>
              <a:t>• Color-coded provenance badges ([JUDICIAL_RULING] vs [ADVOCATE_ALLEGATION]).</a:t>
            </a:r>
          </a:p>
          <a:p>
            <a:pPr>
              <a:spcBef>
                <a:spcPts val="800"/>
              </a:spcBef>
              <a:defRPr sz="1050">
                <a:solidFill>
                  <a:srgbClr val="E2E8F0"/>
                </a:solidFill>
              </a:defRPr>
            </a:pPr>
            <a:r>
              <a:t>• One-click multi-format exports: Plain Text (.txt), JSON (.json), and Printable PDF.</a:t>
            </a:r>
          </a:p>
        </p:txBody>
      </p:sp>
      <p:sp>
        <p:nvSpPr>
          <p:cNvPr id="8" name="Rounded Rectangle 7"/>
          <p:cNvSpPr/>
          <p:nvPr/>
        </p:nvSpPr>
        <p:spPr>
          <a:xfrm>
            <a:off x="8138160" y="1828800"/>
            <a:ext cx="32918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F59E0B"/>
                </a:solidFill>
              </a:defRPr>
            </a:pPr>
            <a:r>
              <a:t>Live Stream Simulator &amp; Docker</a:t>
            </a:r>
          </a:p>
          <a:p>
            <a:pPr>
              <a:spcBef>
                <a:spcPts val="800"/>
              </a:spcBef>
              <a:defRPr sz="1050">
                <a:solidFill>
                  <a:srgbClr val="E2E8F0"/>
                </a:solidFill>
              </a:defRPr>
            </a:pPr>
            <a:r>
              <a:t>• Live Simulator (live_simulator.py): 15-second sliding audio buffers for live proceedings.</a:t>
            </a:r>
          </a:p>
          <a:p>
            <a:pPr>
              <a:spcBef>
                <a:spcPts val="800"/>
              </a:spcBef>
              <a:defRPr sz="1050">
                <a:solidFill>
                  <a:srgbClr val="E2E8F0"/>
                </a:solidFill>
              </a:defRPr>
            </a:pPr>
            <a:r>
              <a:t>• Dynamic running summary updated with step latency under 2 seconds.</a:t>
            </a:r>
          </a:p>
          <a:p>
            <a:pPr>
              <a:spcBef>
                <a:spcPts val="800"/>
              </a:spcBef>
              <a:defRPr sz="1050">
                <a:solidFill>
                  <a:srgbClr val="E2E8F0"/>
                </a:solidFill>
              </a:defRPr>
            </a:pPr>
            <a:r>
              <a:t>• Multi-service Docker Compose (FastAPI backend + Streamlit UI).</a:t>
            </a:r>
          </a:p>
          <a:p>
            <a:pPr>
              <a:spcBef>
                <a:spcPts val="800"/>
              </a:spcBef>
              <a:defRPr sz="1050">
                <a:solidFill>
                  <a:srgbClr val="E2E8F0"/>
                </a:solidFill>
              </a:defRPr>
            </a:pPr>
            <a:r>
              <a:t>• Automated GitHub Actions CI quality assurance suite with pytest.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LIVE DEMONSTRATION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Interactive UI Walkthrough &amp; Evidentiary Verification</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Demonstrating video synchronization, provenance badges, and multi-format judicial reports</a:t>
            </a:r>
          </a:p>
        </p:txBody>
      </p:sp>
      <p:pic>
        <p:nvPicPr>
          <p:cNvPr id="6" name="Picture 5" descr="ui_mockup.png"/>
          <p:cNvPicPr>
            <a:picLocks noChangeAspect="1"/>
          </p:cNvPicPr>
          <p:nvPr/>
        </p:nvPicPr>
        <p:blipFill>
          <a:blip r:embed="rId2"/>
          <a:stretch>
            <a:fillRect/>
          </a:stretch>
        </p:blipFill>
        <p:spPr>
          <a:xfrm>
            <a:off x="731520" y="1737360"/>
            <a:ext cx="10698480" cy="4572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ETHICS &amp; LIMITS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System Limitations &amp; Ethical Legal Safeguards</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Addressing technical boundary conditions, low-resource regional dialects, and assistive usage</a:t>
            </a:r>
          </a:p>
        </p:txBody>
      </p:sp>
      <p:sp>
        <p:nvSpPr>
          <p:cNvPr id="6" name="Rounded Rectangle 5"/>
          <p:cNvSpPr/>
          <p:nvPr/>
        </p:nvSpPr>
        <p:spPr>
          <a:xfrm>
            <a:off x="731520" y="1828800"/>
            <a:ext cx="329184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EF4444"/>
                </a:solidFill>
              </a:defRPr>
            </a:pPr>
            <a:r>
              <a:t>1. Dialectal &amp; Slang Variability</a:t>
            </a:r>
          </a:p>
          <a:p>
            <a:pPr>
              <a:spcBef>
                <a:spcPts val="800"/>
              </a:spcBef>
              <a:defRPr sz="1050">
                <a:solidFill>
                  <a:srgbClr val="E2E8F0"/>
                </a:solidFill>
              </a:defRPr>
            </a:pPr>
            <a:r>
              <a:t>• ASR accuracy degrades on heavily accented colloquial regional slang (e.g., street Telugu in DJ Tillu) compared to formal courtroom speech.</a:t>
            </a:r>
          </a:p>
          <a:p>
            <a:pPr>
              <a:spcBef>
                <a:spcPts val="800"/>
              </a:spcBef>
              <a:defRPr sz="1050">
                <a:solidFill>
                  <a:srgbClr val="E2E8F0"/>
                </a:solidFill>
              </a:defRPr>
            </a:pPr>
            <a:r>
              <a:t>• Whisper word error rate increases on rapid overlapping speech.</a:t>
            </a:r>
          </a:p>
          <a:p>
            <a:pPr>
              <a:spcBef>
                <a:spcPts val="800"/>
              </a:spcBef>
              <a:defRPr sz="1050">
                <a:solidFill>
                  <a:srgbClr val="E2E8F0"/>
                </a:solidFill>
              </a:defRPr>
            </a:pPr>
            <a:r>
              <a:t>• Mitigation: Legal decoding prompt conditions statutory terminology.</a:t>
            </a:r>
          </a:p>
        </p:txBody>
      </p:sp>
      <p:sp>
        <p:nvSpPr>
          <p:cNvPr id="7" name="Rounded Rectangle 6"/>
          <p:cNvSpPr/>
          <p:nvPr/>
        </p:nvSpPr>
        <p:spPr>
          <a:xfrm>
            <a:off x="4434840" y="1828800"/>
            <a:ext cx="32918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F59E0B"/>
                </a:solidFill>
              </a:defRPr>
            </a:pPr>
            <a:r>
              <a:t>2. Absence of Acoustic Diarization</a:t>
            </a:r>
          </a:p>
          <a:p>
            <a:pPr>
              <a:spcBef>
                <a:spcPts val="800"/>
              </a:spcBef>
              <a:defRPr sz="1050">
                <a:solidFill>
                  <a:srgbClr val="E2E8F0"/>
                </a:solidFill>
              </a:defRPr>
            </a:pPr>
            <a:r>
              <a:t>• Current system classifies speakers via lexical cue patterns rather than neural acoustic voiceprints.</a:t>
            </a:r>
          </a:p>
          <a:p>
            <a:pPr>
              <a:spcBef>
                <a:spcPts val="800"/>
              </a:spcBef>
              <a:defRPr sz="1050">
                <a:solidFill>
                  <a:srgbClr val="E2E8F0"/>
                </a:solidFill>
              </a:defRPr>
            </a:pPr>
            <a:r>
              <a:t>• Overlapping multi-speaker interruptions can blend in ASR transcription.</a:t>
            </a:r>
          </a:p>
          <a:p>
            <a:pPr>
              <a:spcBef>
                <a:spcPts val="800"/>
              </a:spcBef>
              <a:defRPr sz="1050">
                <a:solidFill>
                  <a:srgbClr val="E2E8F0"/>
                </a:solidFill>
              </a:defRPr>
            </a:pPr>
            <a:r>
              <a:t>• Mitigation: Proportional sentence splitting and explicit disclaimer.</a:t>
            </a:r>
          </a:p>
        </p:txBody>
      </p:sp>
      <p:sp>
        <p:nvSpPr>
          <p:cNvPr id="8" name="Rounded Rectangle 7"/>
          <p:cNvSpPr/>
          <p:nvPr/>
        </p:nvSpPr>
        <p:spPr>
          <a:xfrm>
            <a:off x="8138160" y="1828800"/>
            <a:ext cx="32918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300" b="1">
                <a:solidFill>
                  <a:srgbClr val="10B981"/>
                </a:solidFill>
              </a:defRPr>
            </a:pPr>
            <a:r>
              <a:t>3. Ethical Mandate: Human-in-the-Loop</a:t>
            </a:r>
          </a:p>
          <a:p>
            <a:pPr>
              <a:spcBef>
                <a:spcPts val="800"/>
              </a:spcBef>
              <a:defRPr sz="1050">
                <a:solidFill>
                  <a:srgbClr val="E2E8F0"/>
                </a:solidFill>
              </a:defRPr>
            </a:pPr>
            <a:r>
              <a:t>• Strict assistive status: this software is an aid for research and review, NEVER a judge or lawyer substitute.</a:t>
            </a:r>
          </a:p>
          <a:p>
            <a:pPr>
              <a:spcBef>
                <a:spcPts val="800"/>
              </a:spcBef>
              <a:defRPr sz="1050">
                <a:solidFill>
                  <a:srgbClr val="E2E8F0"/>
                </a:solidFill>
              </a:defRPr>
            </a:pPr>
            <a:r>
              <a:t>• Automated summaries cannot be entered as unverified legal evidence.</a:t>
            </a:r>
          </a:p>
          <a:p>
            <a:pPr>
              <a:spcBef>
                <a:spcPts val="800"/>
              </a:spcBef>
              <a:defRPr sz="1050">
                <a:solidFill>
                  <a:srgbClr val="E2E8F0"/>
                </a:solidFill>
              </a:defRPr>
            </a:pPr>
            <a:r>
              <a:t>• Mandatory disclaimer embedded in UI, JSON exports, and printable PDFs.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CONCLUSION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Future Trajectory &amp; Project Conclusion</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Summary of major capstone contributions and next-generation judicial AI roadmap</a:t>
            </a:r>
          </a:p>
        </p:txBody>
      </p:sp>
      <p:sp>
        <p:nvSpPr>
          <p:cNvPr id="6" name="Rounded Rectangle 5"/>
          <p:cNvSpPr/>
          <p:nvPr/>
        </p:nvSpPr>
        <p:spPr>
          <a:xfrm>
            <a:off x="731520" y="1828800"/>
            <a:ext cx="521208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38BDF8"/>
                </a:solidFill>
              </a:defRPr>
            </a:pPr>
            <a:r>
              <a:t>FUTURE RESEARCH ROADMAP</a:t>
            </a:r>
          </a:p>
          <a:p>
            <a:pPr>
              <a:spcBef>
                <a:spcPts val="800"/>
              </a:spcBef>
              <a:defRPr sz="1100" b="1">
                <a:solidFill>
                  <a:srgbClr val="FFFFFF"/>
                </a:solidFill>
              </a:defRPr>
            </a:pPr>
            <a:r>
              <a:t>• Neural Speaker Diarization (PyAnnote)</a:t>
            </a:r>
          </a:p>
          <a:p>
            <a:pPr>
              <a:defRPr sz="1000">
                <a:solidFill>
                  <a:srgbClr val="E2E8F0"/>
                </a:solidFill>
              </a:defRPr>
            </a:pPr>
            <a:r>
              <a:t>Integrate pre-trained voice biometrics to cluster speaker embeddings, explicitly tagging [JUDGE] vs [PROSECUTOR] vs [WITNESS] directly from acoustic signals.</a:t>
            </a:r>
          </a:p>
          <a:p>
            <a:pPr>
              <a:spcBef>
                <a:spcPts val="800"/>
              </a:spcBef>
              <a:defRPr sz="1100" b="1">
                <a:solidFill>
                  <a:srgbClr val="FFFFFF"/>
                </a:solidFill>
              </a:defRPr>
            </a:pPr>
            <a:r>
              <a:t>• Real-Time Court Stenography WebSockets</a:t>
            </a:r>
          </a:p>
          <a:p>
            <a:pPr>
              <a:defRPr sz="1000">
                <a:solidFill>
                  <a:srgbClr val="E2E8F0"/>
                </a:solidFill>
              </a:defRPr>
            </a:pPr>
            <a:r>
              <a:t>Deploy full-duplex WebSocket connections for sub-second live streaming in active digital courtrooms.</a:t>
            </a:r>
          </a:p>
          <a:p>
            <a:pPr>
              <a:spcBef>
                <a:spcPts val="800"/>
              </a:spcBef>
              <a:defRPr sz="1100" b="1">
                <a:solidFill>
                  <a:srgbClr val="FFFFFF"/>
                </a:solidFill>
              </a:defRPr>
            </a:pPr>
            <a:r>
              <a:t>• Offline Legal LLM Consistency Auditor</a:t>
            </a:r>
          </a:p>
          <a:p>
            <a:pPr>
              <a:defRPr sz="1000">
                <a:solidFill>
                  <a:srgbClr val="E2E8F0"/>
                </a:solidFill>
              </a:defRPr>
            </a:pPr>
            <a:r>
              <a:t>Use a quantized offline SLM (e.g. Phi-3 / Gemma) to audit extractive summaries for semantic consistency without introducing hallucination risk.</a:t>
            </a:r>
          </a:p>
        </p:txBody>
      </p:sp>
      <p:sp>
        <p:nvSpPr>
          <p:cNvPr id="7" name="Rounded Rectangle 6"/>
          <p:cNvSpPr/>
          <p:nvPr/>
        </p:nvSpPr>
        <p:spPr>
          <a:xfrm>
            <a:off x="6217920" y="1828800"/>
            <a:ext cx="52120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0B981"/>
                </a:solidFill>
              </a:defRPr>
            </a:pPr>
            <a:r>
              <a:t>SUMMARY OF CAPSTONE DELIVERABLES</a:t>
            </a:r>
          </a:p>
          <a:p>
            <a:pPr>
              <a:spcBef>
                <a:spcPts val="800"/>
              </a:spcBef>
              <a:defRPr sz="1100" b="1">
                <a:solidFill>
                  <a:srgbClr val="FFFFFF"/>
                </a:solidFill>
              </a:defRPr>
            </a:pPr>
            <a:r>
              <a:t>✅ Complete End-to-End Pipeline</a:t>
            </a:r>
          </a:p>
          <a:p>
            <a:pPr>
              <a:defRPr sz="1000">
                <a:solidFill>
                  <a:srgbClr val="E2E8F0"/>
                </a:solidFill>
              </a:defRPr>
            </a:pPr>
            <a:r>
              <a:t>Ingestion, EBU R128 normalization, faster-whisper ASR, cleaning, segmentation, summarization, and export.</a:t>
            </a:r>
          </a:p>
          <a:p>
            <a:pPr>
              <a:spcBef>
                <a:spcPts val="800"/>
              </a:spcBef>
              <a:defRPr sz="1100" b="1">
                <a:solidFill>
                  <a:srgbClr val="FFFFFF"/>
                </a:solidFill>
              </a:defRPr>
            </a:pPr>
            <a:r>
              <a:t>✅ Benchmarked Algorithmic Suite</a:t>
            </a:r>
          </a:p>
          <a:p>
            <a:pPr>
              <a:defRPr sz="1000">
                <a:solidFill>
                  <a:srgbClr val="E2E8F0"/>
                </a:solidFill>
              </a:defRPr>
            </a:pPr>
            <a:r>
              <a:t>Comparative evaluation of TF-IDF, TextRank, and Embedding MMR across 10 multilingual court proceedings.</a:t>
            </a:r>
          </a:p>
          <a:p>
            <a:pPr>
              <a:spcBef>
                <a:spcPts val="800"/>
              </a:spcBef>
              <a:defRPr sz="1100" b="1">
                <a:solidFill>
                  <a:srgbClr val="FFFFFF"/>
                </a:solidFill>
              </a:defRPr>
            </a:pPr>
            <a:r>
              <a:t>✅ 8.2% F1 Boost via Domain Booster</a:t>
            </a:r>
          </a:p>
          <a:p>
            <a:pPr>
              <a:defRPr sz="1000">
                <a:solidFill>
                  <a:srgbClr val="E2E8F0"/>
                </a:solidFill>
              </a:defRPr>
            </a:pPr>
            <a:r>
              <a:t>Quantifiable ablation proof that statutory cue weighting and allegation separation improve summary quality.</a:t>
            </a:r>
          </a:p>
          <a:p>
            <a:pPr>
              <a:spcBef>
                <a:spcPts val="800"/>
              </a:spcBef>
              <a:defRPr sz="1100" b="1">
                <a:solidFill>
                  <a:srgbClr val="FFFFFF"/>
                </a:solidFill>
              </a:defRPr>
            </a:pPr>
            <a:r>
              <a:t>✅ Production Web Application &amp; API</a:t>
            </a:r>
          </a:p>
          <a:p>
            <a:pPr>
              <a:defRPr sz="1000">
                <a:solidFill>
                  <a:srgbClr val="E2E8F0"/>
                </a:solidFill>
              </a:defRPr>
            </a:pPr>
            <a:r>
              <a:t>FastAPI asynchronous service, SQLite queue, Streamlit interactive dashboard, live simulator, and Docker stack.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 DEFENSE GUIDE •</a:t>
            </a:r>
          </a:p>
        </p:txBody>
      </p:sp>
      <p:sp>
        <p:nvSpPr>
          <p:cNvPr id="4" name="TextBox 3"/>
          <p:cNvSpPr txBox="1"/>
          <p:nvPr/>
        </p:nvSpPr>
        <p:spPr>
          <a:xfrm>
            <a:off x="731520" y="731520"/>
            <a:ext cx="10698480" cy="594360"/>
          </a:xfrm>
          <a:prstGeom prst="rect">
            <a:avLst/>
          </a:prstGeom>
          <a:noFill/>
        </p:spPr>
        <p:txBody>
          <a:bodyPr wrap="square" lIns="0" tIns="0" rIns="0" bIns="0">
            <a:spAutoFit/>
          </a:bodyPr>
          <a:lstStyle/>
          <a:p>
            <a:pPr>
              <a:defRPr sz="2200" b="1">
                <a:solidFill>
                  <a:srgbClr val="FFFFFF"/>
                </a:solidFill>
              </a:defRPr>
            </a:pPr>
            <a:r>
              <a:t>Review Defense &amp; Viva Voce Q&amp;A Cheat Sheet</a:t>
            </a:r>
          </a:p>
        </p:txBody>
      </p:sp>
      <p:sp>
        <p:nvSpPr>
          <p:cNvPr id="5" name="TextBox 4"/>
          <p:cNvSpPr txBox="1"/>
          <p:nvPr/>
        </p:nvSpPr>
        <p:spPr>
          <a:xfrm>
            <a:off x="731520" y="1325880"/>
            <a:ext cx="10698480" cy="320040"/>
          </a:xfrm>
          <a:prstGeom prst="rect">
            <a:avLst/>
          </a:prstGeom>
          <a:noFill/>
        </p:spPr>
        <p:txBody>
          <a:bodyPr wrap="square" lIns="0" tIns="0" rIns="0" bIns="0">
            <a:spAutoFit/>
          </a:bodyPr>
          <a:lstStyle/>
          <a:p>
            <a:pPr>
              <a:defRPr sz="1150" i="1">
                <a:solidFill>
                  <a:srgbClr val="F59E0B"/>
                </a:solidFill>
              </a:defRPr>
            </a:pPr>
            <a:r>
              <a:t>Top anticipated evaluation questions and crisp 20-second model defense answers</a:t>
            </a:r>
          </a:p>
        </p:txBody>
      </p:sp>
      <p:sp>
        <p:nvSpPr>
          <p:cNvPr id="6" name="Rounded Rectangle 5"/>
          <p:cNvSpPr/>
          <p:nvPr/>
        </p:nvSpPr>
        <p:spPr>
          <a:xfrm>
            <a:off x="731520" y="1828800"/>
            <a:ext cx="5212080" cy="2103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00" b="1">
                <a:solidFill>
                  <a:srgbClr val="EF4444"/>
                </a:solidFill>
              </a:defRPr>
            </a:pPr>
            <a:r>
              <a:t>Q1: Why extractive instead of GPT-4?</a:t>
            </a:r>
          </a:p>
          <a:p>
            <a:pPr>
              <a:spcBef>
                <a:spcPts val="600"/>
              </a:spcBef>
              <a:defRPr sz="1000">
                <a:solidFill>
                  <a:srgbClr val="E2E8F0"/>
                </a:solidFill>
              </a:defRPr>
            </a:pPr>
            <a:r>
              <a:t>Answer: Abstractive LLMs hallucinate and can invert legal meaning or conflate an advocate's unproven allegation with a court order. Extractive summarization guarantees 100% verbatim fidelity, microsecond video anchoring, and zero hallucination.</a:t>
            </a:r>
          </a:p>
        </p:txBody>
      </p:sp>
      <p:sp>
        <p:nvSpPr>
          <p:cNvPr id="7" name="Rounded Rectangle 6"/>
          <p:cNvSpPr/>
          <p:nvPr/>
        </p:nvSpPr>
        <p:spPr>
          <a:xfrm>
            <a:off x="6217920" y="1828800"/>
            <a:ext cx="5212080" cy="2103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00" b="1">
                <a:solidFill>
                  <a:srgbClr val="38BDF8"/>
                </a:solidFill>
              </a:defRPr>
            </a:pPr>
            <a:r>
              <a:t>Q2: Why EBU R128 instead of peak norm?</a:t>
            </a:r>
          </a:p>
          <a:p>
            <a:pPr>
              <a:spcBef>
                <a:spcPts val="600"/>
              </a:spcBef>
              <a:defRPr sz="1000">
                <a:solidFill>
                  <a:srgbClr val="E2E8F0"/>
                </a:solidFill>
              </a:defRPr>
            </a:pPr>
            <a:r>
              <a:t>Answer: Peak normalization scales audio to instantaneous gavel spikes, leaving quiet witness testimony inaudible. EBU R128 (-23 LUFS) uses K-weighted psychoacoustic filtering to balance integrated human perceptual loudness over time.</a:t>
            </a:r>
          </a:p>
        </p:txBody>
      </p:sp>
      <p:sp>
        <p:nvSpPr>
          <p:cNvPr id="8" name="Rounded Rectangle 7"/>
          <p:cNvSpPr/>
          <p:nvPr/>
        </p:nvSpPr>
        <p:spPr>
          <a:xfrm>
            <a:off x="731520" y="4114800"/>
            <a:ext cx="5212080" cy="2103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00" b="1">
                <a:solidFill>
                  <a:srgbClr val="10B981"/>
                </a:solidFill>
              </a:defRPr>
            </a:pPr>
            <a:r>
              <a:t>Q3: Why did TextRank beat MiniLM MMR?</a:t>
            </a:r>
          </a:p>
          <a:p>
            <a:pPr>
              <a:spcBef>
                <a:spcPts val="600"/>
              </a:spcBef>
              <a:defRPr sz="1000">
                <a:solidFill>
                  <a:srgbClr val="E2E8F0"/>
                </a:solidFill>
              </a:defRPr>
            </a:pPr>
            <a:r>
              <a:t>Answer: Courtroom cross-examinations revolve around shared legal keywords between counsel and witnesses. Graph centrality directly models these term-sharing affinity clusters, whereas embeddings occasionally pick tangential dialogue.</a:t>
            </a:r>
          </a:p>
        </p:txBody>
      </p:sp>
      <p:sp>
        <p:nvSpPr>
          <p:cNvPr id="9" name="Rounded Rectangle 8"/>
          <p:cNvSpPr/>
          <p:nvPr/>
        </p:nvSpPr>
        <p:spPr>
          <a:xfrm>
            <a:off x="6217920" y="4114800"/>
            <a:ext cx="5212080" cy="2103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00" b="1">
                <a:solidFill>
                  <a:srgbClr val="F59E0B"/>
                </a:solidFill>
              </a:defRPr>
            </a:pPr>
            <a:r>
              <a:t>Q4: How do you prevent Whisper repetition?</a:t>
            </a:r>
          </a:p>
          <a:p>
            <a:pPr>
              <a:spcBef>
                <a:spcPts val="600"/>
              </a:spcBef>
              <a:defRPr sz="1000">
                <a:solidFill>
                  <a:srgbClr val="E2E8F0"/>
                </a:solidFill>
              </a:defRPr>
            </a:pPr>
            <a:r>
              <a:t>Answer: We disable 'condition_on_previous_text', which prevents Whisper from getting trapped in infinite repetition loops on background courtroom reverberation and ambient echo.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