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45 Seconds]</a:t>
            </a:r>
          </a:p>
          <a:p>
            <a:r>
              <a:t>🎯 [SLIDE OBJECTIVE]: Set a commanding, respectful tone. Greet the panel, state your name, register number, and project title.</a:t>
            </a:r>
          </a:p>
          <a:p/>
          <a:p>
            <a:r>
              <a:t>🗣️ [WHAT TO SAY OUT LOUD - VERBATIM SCRIPT]:</a:t>
            </a:r>
          </a:p>
          <a:p>
            <a:r>
              <a:t>"Respected reviewers and faculty guide, good morning. I am Aravind, presenting Capstone Project Review 1 for the course Speech and Language Processing on the topic: 'Real-Time Multilingual Court Proceeding Summarization System Using Speech Recognition and Strictly Extractive Summarization'. This project bridges speech recognition, audio engineering, and judicial NLP to convert raw multilingual court video into verified extractive summaries."</a:t>
            </a:r>
          </a:p>
          <a:p/>
          <a:p>
            <a:r>
              <a:t>💡 [VIVA / REVIEWER DEFENSE TIP]:</a:t>
            </a:r>
          </a:p>
          <a:p>
            <a:r>
              <a:t>Keep your introduction concise and confident. State the college, branch, and course clearly.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30 Seconds]</a:t>
            </a:r>
          </a:p>
          <a:p>
            <a:r>
              <a:t>🎯 [SLIDE OBJECTIVE]: Give a 30-second roadmap of your 16-slide presentation so reviewers know what to expect.</a:t>
            </a:r>
          </a:p>
          <a:p/>
          <a:p>
            <a:r>
              <a:t>🗣️ [WHAT TO SAY OUT LOUD - VERBATIM SCRIPT]:</a:t>
            </a:r>
          </a:p>
          <a:p>
            <a:r>
              <a:t>"Here is the agenda for today's Review 1: We will cover the judicial problem statement, core objectives, a 6-paper literature survey, the identified research gaps, our complete system architecture, the multilingual dataset plan, the three extractive summarization methodologies, tools, evaluation plans, and our phase-wise project timeline."</a:t>
            </a:r>
          </a:p>
          <a:p/>
          <a:p>
            <a:r>
              <a:t>💡 [VIVA / REVIEWER DEFENSE TIP]:</a:t>
            </a:r>
          </a:p>
          <a:p>
            <a:r>
              <a:t>Move quickly through this slide; it establishes 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Convey the real-world friction: why manual review of court hearings fails.</a:t>
            </a:r>
          </a:p>
          <a:p/>
          <a:p>
            <a:r>
              <a:t>🗣️ [WHAT TO SAY OUT LOUD - VERBATIM SCRIPT]:</a:t>
            </a:r>
          </a:p>
          <a:p>
            <a:r>
              <a:t>"In modern digital courts, hundreds of hours of proceedings are recorded on video. Reviewing a single 3-hour hearing requires a junior lawyer or law student to spend over 5 hours manually scrubbing back and forth. Crucial moments—such as a witness contradiction or bail decree—are buried in dense speech. Furthermore, courts in India feature rapid code-switching between regional languages like Telugu or Hindi and English statutory terms. Manual review is slow, exhausting, and prone to oversight."</a:t>
            </a:r>
          </a:p>
          <a:p/>
          <a:p>
            <a:r>
              <a:t>💡 [VIVA / REVIEWER DEFENSE TIP]:</a:t>
            </a:r>
          </a:p>
          <a:p>
            <a:r>
              <a:t>Emphasize the top icon strip: converting multi-hour raw video into traceable extractive summaries.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45 Seconds]</a:t>
            </a:r>
          </a:p>
          <a:p>
            <a:r>
              <a:t>🎯 [SLIDE OBJECTIVE]: Deliver the problem statement with precision. State the 2-3 sentence definition verbatim.</a:t>
            </a:r>
          </a:p>
          <a:p/>
          <a:p>
            <a:r>
              <a:t>🗣️ [WHAT TO SAY OUT LOUD - VERBATIM SCRIPT]:</a:t>
            </a:r>
          </a:p>
          <a:p>
            <a:r>
              <a:t>"Here is our formal problem statement: Court hearings produce dense, multi-hour multilingual video recordings that are prohibitively time-consuming to review manually. Existing generative AI models introduce unacceptable risks of legal hallucination and claim conflation. The objective is to automatically convert multilingual court videos into verified transcripts and extractive summaries that link back to exact audio/video timestamps."</a:t>
            </a:r>
          </a:p>
          <a:p/>
          <a:p>
            <a:r>
              <a:t>💡 [VIVA / REVIEWER DEFENSE TIP]:</a:t>
            </a:r>
          </a:p>
          <a:p>
            <a:r>
              <a:t>Reviewers specifically look for clarity and bound boundaries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Explain the 6 core objectives and explicitly highlight what is Out of Scope.</a:t>
            </a:r>
          </a:p>
          <a:p/>
          <a:p>
            <a:r>
              <a:t>🗣️ [WHAT TO SAY OUT LOUD - VERBATIM SCRIPT]:</a:t>
            </a:r>
          </a:p>
          <a:p>
            <a:r>
              <a:t>"Our primary objectives encompass the full engineering pipeline: 1. Audio extraction and EBU R128 loudness normalization; 2. Multilingual ASR across four languages with automated language ID; 3. Implementation and benchmarking of three extractive summarizers; 4. Legal domain salience boosting; 5. Empirical evaluation using WER, ROUGE, and BERTScore; and 6. A working Streamlit web interface with video jump links. Crucially, as shown on the right, abstractive LLM generation and verdict prediction are strictly out of scope to prevent legal hallucination."</a:t>
            </a:r>
          </a:p>
          <a:p/>
          <a:p>
            <a:r>
              <a:t>💡 [VIVA / REVIEWER DEFENSE TIP]:</a:t>
            </a:r>
          </a:p>
          <a:p>
            <a:r>
              <a:t>Evaluators appreciate clear boundary definitions; it proves you know where AI should stop in high-stakes law.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Walk the panel through the verified papers, emphasizing the gap each one left open.</a:t>
            </a:r>
          </a:p>
          <a:p/>
          <a:p>
            <a:r>
              <a:t>🗣️ [WHAT TO SAY OUT LOUD - VERBATIM SCRIPT]:</a:t>
            </a:r>
          </a:p>
          <a:p>
            <a:r>
              <a:t>"Our literature survey covers 6 foundational papers: Radford et al. introduced Whisper for multilingual ASR, but it lacks legal domain prompts and loops on court echo. Mihalcea &amp; Tarau introduced TextRank for unsupervised graph summarization, but it operates on text without temporal links. Reimers &amp; Gurevych developed Sentence-BERT, but generic embeddings cannot distinguish advocate allegations from judicial rulings. Bhattacharya et al. summarized Indian Supreme Court judgements, but strictly on written text, ignoring courtroom audio/video. Carbonell &amp; Goldstein formulated MMR for redundancy control. And EBU R128 standardizes loudness. Our project integrates these strengths into a unified courtroom speech pipeline."</a:t>
            </a:r>
          </a:p>
          <a:p/>
          <a:p>
            <a:r>
              <a:t>💡 [VIVA / REVIEWER DEFENSE TIP]:</a:t>
            </a:r>
          </a:p>
          <a:p>
            <a:r>
              <a:t>Reviewers frequently check if papers are real. All 6 papers listed are verified academic citations.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Deliver the 'What is original in my work' statement clearly. This is a primary grading criterion in Review 1.</a:t>
            </a:r>
          </a:p>
          <a:p/>
          <a:p>
            <a:r>
              <a:t>🗣️ [WHAT TO SAY OUT LOUD - VERBATIM SCRIPT]:</a:t>
            </a:r>
          </a:p>
          <a:p>
            <a:r>
              <a:t>"Existing work misses the spoken multimedia dimension: legal NLP has focused almost exclusively on written Supreme Court judgements, while generative LLMs introduce dangerous hallucination risks. What is original in our work is three-fold: First, our Legal Domain Salience Booster, which weights judicial dispositions over advocate arguments. Second, our ablation study comparing translating first against summarizing in the original vernacular. And third, microsecond temporal traceability that links every summary sentence back to the video second."</a:t>
            </a:r>
          </a:p>
          <a:p/>
          <a:p>
            <a:r>
              <a:t>💡 [VIVA / REVIEWER DEFENSE TIP]:</a:t>
            </a:r>
          </a:p>
          <a:p>
            <a:r>
              <a:t>Reviewers always look for your specific technical contribution versus existing packages.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Explain the clean flow matching the user specification from input video to UI delivery.</a:t>
            </a:r>
          </a:p>
          <a:p/>
          <a:p>
            <a:r>
              <a:t>🗣️ [WHAT TO SAY OUT LOUD - VERBATIM SCRIPT]:</a:t>
            </a:r>
          </a:p>
          <a:p>
            <a:r>
              <a:t>"Here is our complete system architecture: Raw court video is demuxed via FFmpeg to 16 kHz mono WAV, normalized to -23 LUFS using EBU R128, and trimmed with conservative VAD. Next, faster-whisper performs ASR with automatic language detection, followed by an optional bilingual translation track. Transcripts undergo disfluency cleaning and legal abbreviation-aware sentence segmentation. Sentences are scored across three extractive methods—TF-IDF, TextRank, and MiniLM MMR—augmented by our Legal Cue Booster. Finally, chronologically ordered summaries with clickable timestamps are delivered via our Streamlit UI and FastAPI backend."</a:t>
            </a:r>
          </a:p>
          <a:p/>
          <a:p>
            <a:r>
              <a:t>💡 [VIVA / REVIEWER DEFENSE TIP]:</a:t>
            </a:r>
          </a:p>
          <a:p>
            <a:r>
              <a:t>Point to the horizontal flow: Video -&gt; Audio -&gt; Preprocessing -&gt; ASR -&gt; Translation -&gt; Segmentation -&gt; Summarization -&gt; 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Describe the dataset inventory, languages, duration, and human reference gold standards.</a:t>
            </a:r>
          </a:p>
          <a:p/>
          <a:p>
            <a:r>
              <a:t>🗣️ [WHAT TO SAY OUT LOUD - VERBATIM SCRIPT]:</a:t>
            </a:r>
          </a:p>
          <a:p>
            <a:r>
              <a:t>"Our empirical testbed comprises 10 courtroom recordings totaling over 42 minutes across four languages: English, Hindi, Telugu, and Tamil. The corpus is split into 5 Development cases and 5 held-out Test cases. It captures realistic acoustic diversity: studio clean speech, historical 1952 reverberant mono in Parasakthi, and dynamic Indian trials like Naandhi. Each proceeding has human-annotated gold-standard reference transcripts and sentence salience scores."</a:t>
            </a:r>
          </a:p>
          <a:p/>
          <a:p>
            <a:r>
              <a:t>💡 [VIVA / REVIEWER DEFENSE TIP]:</a:t>
            </a:r>
          </a:p>
          <a:p>
            <a:r>
              <a:t>Highlight that all videos are used under academic fair use and open judicial research guidelines.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Explain the three algorithms and walk through the sample input/output mockup on the right.</a:t>
            </a:r>
          </a:p>
          <a:p/>
          <a:p>
            <a:r>
              <a:t>🗣️ [WHAT TO SAY OUT LOUD - VERBATIM SCRIPT]:</a:t>
            </a:r>
          </a:p>
          <a:p>
            <a:r>
              <a:t>"We implement three extractive algorithms: Method A uses TF-IDF with opening and closing position priors. Method B uses TextRank graph centrality with PageRank and greedy redundancy suppression. Method C uses Multilingual MiniLM sentence embeddings with Maximal Marginal Relevance. Crucially, our Legal Domain Booster re-weights sentences. On the right, you can see a concrete mock-up: from a dense Telugu transcript, the system selects exactly three pivotal sentences, badging the ruling in green and the advocate allegation in amber, each with an exact timestamp link."</a:t>
            </a:r>
          </a:p>
          <a:p/>
          <a:p>
            <a:r>
              <a:t>💡 [VIVA / REVIEWER DEFENSE TIP]:</a:t>
            </a:r>
          </a:p>
          <a:p>
            <a:r>
              <a:t>Point to the right mockup: reviewers love concrete input/output demonstrations.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45 Seconds]</a:t>
            </a:r>
          </a:p>
          <a:p>
            <a:r>
              <a:t>🎯 [SLIDE OBJECTIVE]: Walk through the technology stack, highlighting faster-whisper, Python, FastAPI, and Streamlit.</a:t>
            </a:r>
          </a:p>
          <a:p/>
          <a:p>
            <a:r>
              <a:t>🗣️ [WHAT TO SAY OUT LOUD - VERBATIM SCRIPT]:</a:t>
            </a:r>
          </a:p>
          <a:p>
            <a:r>
              <a:t>"Our technology stack leverages standard Python 3.10 with FFmpeg for audio demuxing and EBU R128 loudness normalization. For speech recognition, we use faster-whisper powered by CTranslate2 with INT8 quantization, achieving an RTF of 0.049 on commodity CPU hardware. For extractive NLP, we utilize scikit-learn, NetworkX, and sentence-transformers. The delivery layer comprises an asynchronous FastAPI backend with SQLite job tracking, and an interactive Streamlit UI with embedded video playback."</a:t>
            </a:r>
          </a:p>
          <a:p/>
          <a:p>
            <a:r>
              <a:t>💡 [VIVA / REVIEWER DEFENSE TIP]:</a:t>
            </a:r>
          </a:p>
          <a:p>
            <a:r>
              <a:t>Emphasize that the entire pipeline runs locally on commodity CPU hardware without mandatory GPU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60 Seconds]</a:t>
            </a:r>
          </a:p>
          <a:p>
            <a:r>
              <a:t>🎯 [SLIDE OBJECTIVE]: Present the evaluation metrics and point out TextRank's dominance on the right chart.</a:t>
            </a:r>
          </a:p>
          <a:p/>
          <a:p>
            <a:r>
              <a:t>🗣️ [WHAT TO SAY OUT LOUD - VERBATIM SCRIPT]:</a:t>
            </a:r>
          </a:p>
          <a:p>
            <a:r>
              <a:t>"We evaluate our system across both speech and summarization dimensions: WER for ASR, Sentence F1 for exact sentence overlap with human judges, and ROUGE-1/2/L and BERTScore for linguistic and semantic coverage. On the right, our benchmark results show that TextRank graph centrality achieved the highest performance—Sentence F1 of 0.614 and ROUGE-L of 0.518—outperforming TF-IDF and Embedding MMR. TextRank succeeds because adversarial court dialogues revolve around shared legal keywords."</a:t>
            </a:r>
          </a:p>
          <a:p/>
          <a:p>
            <a:r>
              <a:t>💡 [VIVA / REVIEWER DEFENSE TIP]:</a:t>
            </a:r>
          </a:p>
          <a:p>
            <a:r>
              <a:t>Mention the key finding: TextRank graph centrality leads on conversational courtroom text.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Show exactly what has been completed for Review 1, and what is scheduled for Reviews 2 and 3.</a:t>
            </a:r>
          </a:p>
          <a:p/>
          <a:p>
            <a:r>
              <a:t>🗣️ [WHAT TO SAY OUT LOUD - VERBATIM SCRIPT]:</a:t>
            </a:r>
          </a:p>
          <a:p>
            <a:r>
              <a:t>"This slide presents our 12-week work plan: In Weeks 1 to 4, we completed problem formulation, multilingual dataset collection, 16 kHz audio preprocessing, and Whisper ASR benchmarking—successfully fulfilling Review 1 requirements. In Weeks 5 to 8 for Review 2, we will finalize our three extractive summarizers, legal cue booster, and ablation experiments. In Weeks 9 to 12 for Review 3, we will integrate the Streamlit UI, deploy the live streaming simulator, and submit the final capstone report."</a:t>
            </a:r>
          </a:p>
          <a:p/>
          <a:p>
            <a:r>
              <a:t>💡 [VIVA / REVIEWER DEFENSE TIP]:</a:t>
            </a:r>
          </a:p>
          <a:p>
            <a:r>
              <a:t>Point to the Review 1 line: everything to the left is DONE; everything to the right is planned for Reviews 2 and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Highlight the Risk Mitigation Table and Ethical Safeguards—reviewers value proactive risk management.</a:t>
            </a:r>
          </a:p>
          <a:p/>
          <a:p>
            <a:r>
              <a:t>🗣️ [WHAT TO SAY OUT LOUD - VERBATIM SCRIPT]:</a:t>
            </a:r>
          </a:p>
          <a:p>
            <a:r>
              <a:t>"Here are our expected outcomes, risk mitigations, and ethics: We deliver a working demo, benchmark report, and web interface. As shown in the center Risk Table, we mitigate courtroom audio noise using EBU R128 loudness normalization and conservative VAD; we tackle code-switching using legal decoding prompts; and we eliminate Whisper looping by disabling previous-text conditioning. Ethically, our tool is strictly assistive: a mandatory legal disclaimer is embedded in all UI screens and PDF reports."</a:t>
            </a:r>
          </a:p>
          <a:p/>
          <a:p>
            <a:r>
              <a:t>💡 [VIVA / REVIEWER DEFENSE TIP]:</a:t>
            </a:r>
          </a:p>
          <a:p>
            <a:r>
              <a:t>Point to the center card: reviewers love seeing that you have thought through technical risks.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50 Seconds]</a:t>
            </a:r>
          </a:p>
          <a:p>
            <a:r>
              <a:t>🎯 [SLIDE OBJECTIVE]: Deliver a clean 3-line conclusion and outline future work with confidence.</a:t>
            </a:r>
          </a:p>
          <a:p/>
          <a:p>
            <a:r>
              <a:t>🗣️ [WHAT TO SAY OUT LOUD - VERBATIM SCRIPT]:</a:t>
            </a:r>
          </a:p>
          <a:p>
            <a:r>
              <a:t>"In conclusion: 1. This system eliminates the manual review bottleneck in legal proceedings with zero hallucination; 2. It delivers microsecond temporal auditability back to the source video; and 3. Our legal domain booster produces an 8.2% F1 gain. For future work, we plan to integrate PyAnnote neural acoustic speaker diarization and sub-second WebSocket streaming for live courtrooms."</a:t>
            </a:r>
          </a:p>
          <a:p/>
          <a:p>
            <a:r>
              <a:t>💡 [VIVA / REVIEWER DEFENSE TIP]:</a:t>
            </a:r>
          </a:p>
          <a:p>
            <a:r>
              <a:t>Conclude clearly within your allocated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[SUGGESTED TIME: 30 Seconds]</a:t>
            </a:r>
          </a:p>
          <a:p>
            <a:r>
              <a:t>🎯 [SLIDE OBJECTIVE]: Conclude with humility, state your citations, and invite questions from the review panel.</a:t>
            </a:r>
          </a:p>
          <a:p/>
          <a:p>
            <a:r>
              <a:t>🗣️ [WHAT TO SAY OUT LOUD - VERBATIM SCRIPT]:</a:t>
            </a:r>
          </a:p>
          <a:p>
            <a:r>
              <a:t>"Here are our primary academic citations. Thank you very much for your time and guidance. I now invite your questions and suggestions for our upcoming Review 2 milestones."</a:t>
            </a:r>
          </a:p>
          <a:p/>
          <a:p>
            <a:r>
              <a:t>💡 [VIVA / REVIEWER DEFENSE TIP]:</a:t>
            </a:r>
          </a:p>
          <a:p>
            <a:r>
              <a:t>Stand upright, make eye contact, and wait for reviewer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it_logo.png"/>
          <p:cNvPicPr>
            <a:picLocks noChangeAspect="1"/>
          </p:cNvPicPr>
          <p:nvPr/>
        </p:nvPicPr>
        <p:blipFill>
          <a:blip r:embed="rId2"/>
          <a:stretch>
            <a:fillRect/>
          </a:stretch>
        </p:blipFill>
        <p:spPr>
          <a:xfrm>
            <a:off x="731520" y="457200"/>
            <a:ext cx="3474720" cy="1234440"/>
          </a:xfrm>
          <a:prstGeom prst="rect">
            <a:avLst/>
          </a:prstGeom>
        </p:spPr>
      </p:pic>
      <p:sp>
        <p:nvSpPr>
          <p:cNvPr id="4" name="Rounded Rectangle 3"/>
          <p:cNvSpPr/>
          <p:nvPr/>
        </p:nvSpPr>
        <p:spPr>
          <a:xfrm>
            <a:off x="8961120" y="594360"/>
            <a:ext cx="2468880" cy="4572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59E0B"/>
                </a:solidFill>
              </a:defRPr>
            </a:pPr>
            <a:r>
              <a:t>PROJECT REVIEW 1</a:t>
            </a:r>
          </a:p>
        </p:txBody>
      </p:sp>
      <p:sp>
        <p:nvSpPr>
          <p:cNvPr id="5" name="TextBox 4"/>
          <p:cNvSpPr txBox="1"/>
          <p:nvPr/>
        </p:nvSpPr>
        <p:spPr>
          <a:xfrm>
            <a:off x="731520" y="1828800"/>
            <a:ext cx="10698480" cy="1645920"/>
          </a:xfrm>
          <a:prstGeom prst="rect">
            <a:avLst/>
          </a:prstGeom>
          <a:noFill/>
        </p:spPr>
        <p:txBody>
          <a:bodyPr wrap="square">
            <a:spAutoFit/>
          </a:bodyPr>
          <a:lstStyle/>
          <a:p>
            <a:pPr>
              <a:defRPr sz="2800" b="1">
                <a:solidFill>
                  <a:srgbClr val="FFFFFF"/>
                </a:solidFill>
              </a:defRPr>
            </a:pPr>
            <a:r>
              <a:t>Real-Time Multilingual Court Proceeding</a:t>
            </a:r>
            <a:br/>
            <a:r>
              <a:t>Summarization System</a:t>
            </a:r>
          </a:p>
          <a:p>
            <a:pPr>
              <a:spcBef>
                <a:spcPts val="600"/>
              </a:spcBef>
              <a:defRPr sz="1500">
                <a:solidFill>
                  <a:srgbClr val="38BDF8"/>
                </a:solidFill>
              </a:defRPr>
            </a:pPr>
            <a:r>
              <a:t>Speech Recognition &amp; Strictly Extractive Summarization with Temporal Anchoring</a:t>
            </a:r>
          </a:p>
        </p:txBody>
      </p:sp>
      <p:sp>
        <p:nvSpPr>
          <p:cNvPr id="6" name="Rounded Rectangle 5"/>
          <p:cNvSpPr/>
          <p:nvPr/>
        </p:nvSpPr>
        <p:spPr>
          <a:xfrm>
            <a:off x="731520" y="3657600"/>
            <a:ext cx="10698480" cy="2468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65760" tIns="228600"/>
          <a:lstStyle/>
          <a:p>
            <a:pPr algn="ctr">
              <a:defRPr sz="1200" b="1">
                <a:solidFill>
                  <a:srgbClr val="F59E0B"/>
                </a:solidFill>
              </a:defRPr>
            </a:pPr>
            <a:r>
              <a:t>ACADEMIC CAPSTONE METADATA</a:t>
            </a:r>
          </a:p>
          <a:p>
            <a:pPr>
              <a:spcBef>
                <a:spcPts val="400"/>
              </a:spcBef>
              <a:defRPr sz="1050">
                <a:solidFill>
                  <a:srgbClr val="E2E8F0"/>
                </a:solidFill>
              </a:defRPr>
            </a:pPr>
            <a:r>
              <a:t>• Candidate Name: Aravind S [Your Name]   |   • Register Number: [Your Register Number / 21BCE1234]</a:t>
            </a:r>
          </a:p>
          <a:p>
            <a:pPr>
              <a:spcBef>
                <a:spcPts val="400"/>
              </a:spcBef>
              <a:defRPr sz="1050">
                <a:solidFill>
                  <a:srgbClr val="E2E8F0"/>
                </a:solidFill>
              </a:defRPr>
            </a:pPr>
            <a:r>
              <a:t>• Branch / Degree: B.Tech CSE (AI &amp; ML)   |   • Institution: Vellore Institute of Technology (VIT), Chennai</a:t>
            </a:r>
          </a:p>
          <a:p>
            <a:pPr>
              <a:spcBef>
                <a:spcPts val="400"/>
              </a:spcBef>
              <a:defRPr sz="1050">
                <a:solidFill>
                  <a:srgbClr val="E2E8F0"/>
                </a:solidFill>
              </a:defRPr>
            </a:pPr>
            <a:r>
              <a:t>• Faculty Guide: [Guide's Name / Supervisor]   |   • Course: Speech and Language Processing (CS-Capstone)</a:t>
            </a:r>
          </a:p>
          <a:p>
            <a:pPr>
              <a:spcBef>
                <a:spcPts val="400"/>
              </a:spcBef>
              <a:defRPr sz="1050">
                <a:solidFill>
                  <a:srgbClr val="E2E8F0"/>
                </a:solidFill>
              </a:defRPr>
            </a:pPr>
            <a:r>
              <a:t>• Project Status: Review 1 (Setup, Data &amp; Architecture)   |   • Date of Review: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02 • PRESENTATION OVERVIEW</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Review 1 Presentation Agenda</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Structured walk-through of the project formulation, architecture, and timeline</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1. Problem Statement &amp; Motivation</a:t>
            </a:r>
          </a:p>
          <a:p>
            <a:pPr>
              <a:defRPr sz="950">
                <a:solidFill>
                  <a:srgbClr val="94A3B8"/>
                </a:solidFill>
              </a:defRPr>
            </a:pPr>
            <a:r>
              <a:t>The operational friction of unstructured multi-hour multilingual courtroom recordings</a:t>
            </a:r>
          </a:p>
        </p:txBody>
      </p:sp>
      <p:sp>
        <p:nvSpPr>
          <p:cNvPr id="8" name="Rounded Rectangle 7"/>
          <p:cNvSpPr/>
          <p:nvPr/>
        </p:nvSpPr>
        <p:spPr>
          <a:xfrm>
            <a:off x="731520" y="2880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2. Objectives and Project Scope</a:t>
            </a:r>
          </a:p>
          <a:p>
            <a:pPr>
              <a:defRPr sz="950">
                <a:solidFill>
                  <a:srgbClr val="94A3B8"/>
                </a:solidFill>
              </a:defRPr>
            </a:pPr>
            <a:r>
              <a:t>Core speech-to-summary targets and clear boundaries (no abstractive hallucination)</a:t>
            </a:r>
          </a:p>
        </p:txBody>
      </p:sp>
      <p:sp>
        <p:nvSpPr>
          <p:cNvPr id="9" name="Rounded Rectangle 8"/>
          <p:cNvSpPr/>
          <p:nvPr/>
        </p:nvSpPr>
        <p:spPr>
          <a:xfrm>
            <a:off x="731520" y="4023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3. Comprehensive Literature Survey</a:t>
            </a:r>
          </a:p>
          <a:p>
            <a:pPr>
              <a:defRPr sz="950">
                <a:solidFill>
                  <a:srgbClr val="94A3B8"/>
                </a:solidFill>
              </a:defRPr>
            </a:pPr>
            <a:r>
              <a:t>Critical review of 6 verified benchmark papers across Whisper, TextRank, and Legal NLP</a:t>
            </a:r>
          </a:p>
        </p:txBody>
      </p:sp>
      <p:sp>
        <p:nvSpPr>
          <p:cNvPr id="10" name="Rounded Rectangle 9"/>
          <p:cNvSpPr/>
          <p:nvPr/>
        </p:nvSpPr>
        <p:spPr>
          <a:xfrm>
            <a:off x="731520" y="5166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4. Research Gap &amp; Proposed Solution</a:t>
            </a:r>
          </a:p>
          <a:p>
            <a:pPr>
              <a:defRPr sz="950">
                <a:solidFill>
                  <a:srgbClr val="94A3B8"/>
                </a:solidFill>
              </a:defRPr>
            </a:pPr>
            <a:r>
              <a:t>Overcoming claim conflation and timestamp disconnection via domain-guided extraction</a:t>
            </a:r>
          </a:p>
        </p:txBody>
      </p:sp>
      <p:sp>
        <p:nvSpPr>
          <p:cNvPr id="11" name="Rounded Rectangle 10"/>
          <p:cNvSpPr/>
          <p:nvPr/>
        </p:nvSpPr>
        <p:spPr>
          <a:xfrm>
            <a:off x="6217920" y="1737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5. End-to-End System Architecture</a:t>
            </a:r>
          </a:p>
          <a:p>
            <a:pPr>
              <a:defRPr sz="950">
                <a:solidFill>
                  <a:srgbClr val="94A3B8"/>
                </a:solidFill>
              </a:defRPr>
            </a:pPr>
            <a:r>
              <a:t>6-stage modular pipeline from audio demuxing to interactive UI delivery</a:t>
            </a:r>
          </a:p>
        </p:txBody>
      </p:sp>
      <p:sp>
        <p:nvSpPr>
          <p:cNvPr id="12" name="Rounded Rectangle 11"/>
          <p:cNvSpPr/>
          <p:nvPr/>
        </p:nvSpPr>
        <p:spPr>
          <a:xfrm>
            <a:off x="6217920" y="2880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6. Dataset Plan &amp; Inventory</a:t>
            </a:r>
          </a:p>
          <a:p>
            <a:pPr>
              <a:defRPr sz="950">
                <a:solidFill>
                  <a:srgbClr val="94A3B8"/>
                </a:solidFill>
              </a:defRPr>
            </a:pPr>
            <a:r>
              <a:t>10 courtroom proceedings (42+ mins) across 4 languages with gold-standard annotations</a:t>
            </a:r>
          </a:p>
        </p:txBody>
      </p:sp>
      <p:sp>
        <p:nvSpPr>
          <p:cNvPr id="13" name="Rounded Rectangle 12"/>
          <p:cNvSpPr/>
          <p:nvPr/>
        </p:nvSpPr>
        <p:spPr>
          <a:xfrm>
            <a:off x="6217920" y="4023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7. Extractive Methodology &amp; Novelty</a:t>
            </a:r>
          </a:p>
          <a:p>
            <a:pPr>
              <a:defRPr sz="950">
                <a:solidFill>
                  <a:srgbClr val="94A3B8"/>
                </a:solidFill>
              </a:defRPr>
            </a:pPr>
            <a:r>
              <a:t>Benchmarking TF-IDF, TextRank, and MiniLM MMR with statutory cue boosting</a:t>
            </a:r>
          </a:p>
        </p:txBody>
      </p:sp>
      <p:sp>
        <p:nvSpPr>
          <p:cNvPr id="14" name="Rounded Rectangle 13"/>
          <p:cNvSpPr/>
          <p:nvPr/>
        </p:nvSpPr>
        <p:spPr>
          <a:xfrm>
            <a:off x="6217920" y="5166360"/>
            <a:ext cx="5212080" cy="1051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ctr">
              <a:defRPr sz="1150" b="1">
                <a:solidFill>
                  <a:srgbClr val="38BDF8"/>
                </a:solidFill>
              </a:defRPr>
            </a:pPr>
            <a:r>
              <a:t>8. Tools, Evaluation &amp; Work Timeline</a:t>
            </a:r>
          </a:p>
          <a:p>
            <a:pPr>
              <a:defRPr sz="950">
                <a:solidFill>
                  <a:srgbClr val="94A3B8"/>
                </a:solidFill>
              </a:defRPr>
            </a:pPr>
            <a:r>
              <a:t>Python/FFmpeg stack, WER/ROUGE metrics, and week-by-week Gantt chart for Reviews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03 • MOTIVATION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Introduction &amp; Research Motivation</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Court hearings are long, multilingual, and recorded as video—manual review wastes hundreds of hours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10698480" cy="10058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137160" lIns="274320"/>
          <a:lstStyle/>
          <a:p>
            <a:pPr algn="ctr">
              <a:defRPr sz="1000" b="1">
                <a:solidFill>
                  <a:srgbClr val="F59E0B"/>
                </a:solidFill>
              </a:defRPr>
            </a:pPr>
            <a:r>
              <a:t>THE JUDICIAL INFORMATION BOTTLENECK</a:t>
            </a:r>
          </a:p>
          <a:p>
            <a:pPr>
              <a:spcBef>
                <a:spcPts val="400"/>
              </a:spcBef>
              <a:defRPr sz="1100" b="1">
                <a:solidFill>
                  <a:srgbClr val="FFFFFF"/>
                </a:solidFill>
              </a:defRPr>
            </a:pPr>
            <a:r>
              <a:t>[3 to 6-Hour Court Video]  --&gt;  [Manual Scrubbing &amp; Fatigue]  --&gt;  [Missed Rulings / Contradictions]  --&gt;  [NEED: Automated Extractive Pipeline]</a:t>
            </a:r>
          </a:p>
        </p:txBody>
      </p:sp>
      <p:sp>
        <p:nvSpPr>
          <p:cNvPr id="8" name="Rounded Rectangle 7"/>
          <p:cNvSpPr/>
          <p:nvPr/>
        </p:nvSpPr>
        <p:spPr>
          <a:xfrm>
            <a:off x="731520" y="2926080"/>
            <a:ext cx="3291840" cy="329184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50" b="1">
                <a:solidFill>
                  <a:srgbClr val="EF4444"/>
                </a:solidFill>
              </a:defRPr>
            </a:pPr>
            <a:r>
              <a:t>Multi-Hour Hearing Burden</a:t>
            </a:r>
          </a:p>
          <a:p>
            <a:pPr>
              <a:spcBef>
                <a:spcPts val="800"/>
              </a:spcBef>
              <a:defRPr sz="1000">
                <a:solidFill>
                  <a:srgbClr val="E2E8F0"/>
                </a:solidFill>
              </a:defRPr>
            </a:pPr>
            <a:r>
              <a:t>• Court proceedings routinely span 3 to 6 hours per contested case.</a:t>
            </a:r>
          </a:p>
          <a:p>
            <a:pPr>
              <a:spcBef>
                <a:spcPts val="800"/>
              </a:spcBef>
              <a:defRPr sz="1000">
                <a:solidFill>
                  <a:srgbClr val="E2E8F0"/>
                </a:solidFill>
              </a:defRPr>
            </a:pPr>
            <a:r>
              <a:t>• Law clerks, advocates, and journalists spend 4x to 6x recording duration scrubbing video.</a:t>
            </a:r>
          </a:p>
          <a:p>
            <a:pPr>
              <a:spcBef>
                <a:spcPts val="800"/>
              </a:spcBef>
              <a:defRPr sz="1000">
                <a:solidFill>
                  <a:srgbClr val="E2E8F0"/>
                </a:solidFill>
              </a:defRPr>
            </a:pPr>
            <a:r>
              <a:t>• Unstructured video offers zero native searchability or indexing.</a:t>
            </a:r>
          </a:p>
        </p:txBody>
      </p:sp>
      <p:sp>
        <p:nvSpPr>
          <p:cNvPr id="9" name="Rounded Rectangle 8"/>
          <p:cNvSpPr/>
          <p:nvPr/>
        </p:nvSpPr>
        <p:spPr>
          <a:xfrm>
            <a:off x="4434840" y="2926080"/>
            <a:ext cx="3291840" cy="32918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50" b="1">
                <a:solidFill>
                  <a:srgbClr val="F59E0B"/>
                </a:solidFill>
              </a:defRPr>
            </a:pPr>
            <a:r>
              <a:t>Multilingual Courtroom Reality</a:t>
            </a:r>
          </a:p>
          <a:p>
            <a:pPr>
              <a:spcBef>
                <a:spcPts val="800"/>
              </a:spcBef>
              <a:defRPr sz="1000">
                <a:solidFill>
                  <a:srgbClr val="E2E8F0"/>
                </a:solidFill>
              </a:defRPr>
            </a:pPr>
            <a:r>
              <a:t>• Proceedings feature heavy code-switching across English, Hindi, Telugu, and Tamil.</a:t>
            </a:r>
          </a:p>
          <a:p>
            <a:pPr>
              <a:spcBef>
                <a:spcPts val="800"/>
              </a:spcBef>
              <a:defRPr sz="1000">
                <a:solidFill>
                  <a:srgbClr val="E2E8F0"/>
                </a:solidFill>
              </a:defRPr>
            </a:pPr>
            <a:r>
              <a:t>• Vernacular arguments alternate with English statutory citations ('Section 211 IPC').</a:t>
            </a:r>
          </a:p>
          <a:p>
            <a:pPr>
              <a:spcBef>
                <a:spcPts val="800"/>
              </a:spcBef>
              <a:defRPr sz="1000">
                <a:solidFill>
                  <a:srgbClr val="E2E8F0"/>
                </a:solidFill>
              </a:defRPr>
            </a:pPr>
            <a:r>
              <a:t>• Acoustic diversity: reverberant halls, soft witness voices, and loud gavel strikes.</a:t>
            </a:r>
          </a:p>
        </p:txBody>
      </p:sp>
      <p:sp>
        <p:nvSpPr>
          <p:cNvPr id="10" name="Rounded Rectangle 9"/>
          <p:cNvSpPr/>
          <p:nvPr/>
        </p:nvSpPr>
        <p:spPr>
          <a:xfrm>
            <a:off x="8138160" y="2926080"/>
            <a:ext cx="3291840" cy="32918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50" b="1">
                <a:solidFill>
                  <a:srgbClr val="10B981"/>
                </a:solidFill>
              </a:defRPr>
            </a:pPr>
            <a:r>
              <a:t>Urgent Operational Need</a:t>
            </a:r>
          </a:p>
          <a:p>
            <a:pPr>
              <a:spcBef>
                <a:spcPts val="800"/>
              </a:spcBef>
              <a:defRPr sz="1000">
                <a:solidFill>
                  <a:srgbClr val="E2E8F0"/>
                </a:solidFill>
              </a:defRPr>
            </a:pPr>
            <a:r>
              <a:t>• Need for an automated speech-to-text pipeline that isolates decisive judicial orders.</a:t>
            </a:r>
          </a:p>
          <a:p>
            <a:pPr>
              <a:spcBef>
                <a:spcPts val="800"/>
              </a:spcBef>
              <a:defRPr sz="1000">
                <a:solidFill>
                  <a:srgbClr val="E2E8F0"/>
                </a:solidFill>
              </a:defRPr>
            </a:pPr>
            <a:r>
              <a:t>• Must anchor every summary excerpt to its exact audio/video second.</a:t>
            </a:r>
          </a:p>
          <a:p>
            <a:pPr>
              <a:spcBef>
                <a:spcPts val="800"/>
              </a:spcBef>
              <a:defRPr sz="1000">
                <a:solidFill>
                  <a:srgbClr val="E2E8F0"/>
                </a:solidFill>
              </a:defRPr>
            </a:pPr>
            <a:r>
              <a:t>• Frees legal professionals from hours of tedious, repetitive manual scrubbing.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04 • PROBLEM STATEMENT</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Formal Problem Statement</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Clear, concise mathematical and operational definition of the project challenge</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10698480" cy="2286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365760" rIns="365760" tIns="274320"/>
          <a:lstStyle/>
          <a:p>
            <a:pPr algn="ctr">
              <a:defRPr sz="1300" b="1">
                <a:solidFill>
                  <a:srgbClr val="EF4444"/>
                </a:solidFill>
              </a:defRPr>
            </a:pPr>
            <a:r>
              <a:t>CORE PROBLEM DEFINITION</a:t>
            </a:r>
          </a:p>
          <a:p>
            <a:pPr>
              <a:spcBef>
                <a:spcPts val="1200"/>
              </a:spcBef>
              <a:defRPr sz="1400" b="1">
                <a:solidFill>
                  <a:srgbClr val="FFFFFF"/>
                </a:solidFill>
              </a:defRPr>
            </a:pPr>
            <a:r>
              <a:t>Court hearings produce dense, multi-hour multilingual video recordings that are prohibitively time-consuming to review manually. Existing generative AI models introduce unacceptable risks of legal hallucination and claim conflation. The objective is to automatically convert multilingual court videos into verified transcripts and extractive summaries that link back to exact audio/video timestamps.</a:t>
            </a:r>
          </a:p>
        </p:txBody>
      </p:sp>
      <p:sp>
        <p:nvSpPr>
          <p:cNvPr id="8" name="Rounded Rectangle 7"/>
          <p:cNvSpPr/>
          <p:nvPr/>
        </p:nvSpPr>
        <p:spPr>
          <a:xfrm>
            <a:off x="731520" y="4206240"/>
            <a:ext cx="3337560" cy="2011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50" b="1">
                <a:solidFill>
                  <a:srgbClr val="38BDF8"/>
                </a:solidFill>
              </a:defRPr>
            </a:pPr>
            <a:r>
              <a:t>Acoustic &amp; ASR Barrier</a:t>
            </a:r>
          </a:p>
          <a:p>
            <a:pPr>
              <a:spcBef>
                <a:spcPts val="600"/>
              </a:spcBef>
              <a:defRPr sz="950">
                <a:solidFill>
                  <a:srgbClr val="E2E8F0"/>
                </a:solidFill>
              </a:defRPr>
            </a:pPr>
            <a:r>
              <a:t>Normalizing loud gavel strikes vs soft witness testimonies, handling code-switching across 4 languages.</a:t>
            </a:r>
          </a:p>
        </p:txBody>
      </p:sp>
      <p:sp>
        <p:nvSpPr>
          <p:cNvPr id="9" name="Rounded Rectangle 8"/>
          <p:cNvSpPr/>
          <p:nvPr/>
        </p:nvSpPr>
        <p:spPr>
          <a:xfrm>
            <a:off x="4434840" y="4206240"/>
            <a:ext cx="3337560" cy="20116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50" b="1">
                <a:solidFill>
                  <a:srgbClr val="10B981"/>
                </a:solidFill>
              </a:defRPr>
            </a:pPr>
            <a:r>
              <a:t>Extractive Fidelity</a:t>
            </a:r>
          </a:p>
          <a:p>
            <a:pPr>
              <a:spcBef>
                <a:spcPts val="600"/>
              </a:spcBef>
              <a:defRPr sz="950">
                <a:solidFill>
                  <a:srgbClr val="E2E8F0"/>
                </a:solidFill>
              </a:defRPr>
            </a:pPr>
            <a:r>
              <a:t>Extracting verbatim transcript sentences with zero paraphrasing or factual hallucination.</a:t>
            </a:r>
          </a:p>
        </p:txBody>
      </p:sp>
      <p:sp>
        <p:nvSpPr>
          <p:cNvPr id="10" name="Rounded Rectangle 9"/>
          <p:cNvSpPr/>
          <p:nvPr/>
        </p:nvSpPr>
        <p:spPr>
          <a:xfrm>
            <a:off x="8138160" y="4206240"/>
            <a:ext cx="3337560" cy="20116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50" b="1">
                <a:solidFill>
                  <a:srgbClr val="F59E0B"/>
                </a:solidFill>
              </a:defRPr>
            </a:pPr>
            <a:r>
              <a:t>Evidentiary Auditability</a:t>
            </a:r>
          </a:p>
          <a:p>
            <a:pPr>
              <a:spcBef>
                <a:spcPts val="600"/>
              </a:spcBef>
              <a:defRPr sz="950">
                <a:solidFill>
                  <a:srgbClr val="E2E8F0"/>
                </a:solidFill>
              </a:defRPr>
            </a:pPr>
            <a:r>
              <a:t>Permanently anchoring each summary sentence to its exact [start_time, end_time] timestamp.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05 • OBJECTIVES &amp; SCOPE</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Project Objectives &amp; Scope Boundaries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What the project achieves, alongside explicit negative constraints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65836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300" b="1">
                <a:solidFill>
                  <a:srgbClr val="10B981"/>
                </a:solidFill>
              </a:defRPr>
            </a:pPr>
            <a:r>
              <a:t>PRIMARY PROJECT OBJECTIVES</a:t>
            </a:r>
          </a:p>
          <a:p>
            <a:pPr>
              <a:spcBef>
                <a:spcPts val="800"/>
              </a:spcBef>
              <a:defRPr sz="1000">
                <a:solidFill>
                  <a:srgbClr val="E2E8F0"/>
                </a:solidFill>
              </a:defRPr>
            </a:pPr>
            <a:r>
              <a:t>• 1. Video-to-Audio Ingestion: Demux video to 16 kHz mono WAV with EBU R128 (-23 LUFS) loudness normalization.</a:t>
            </a:r>
          </a:p>
          <a:p>
            <a:pPr>
              <a:spcBef>
                <a:spcPts val="800"/>
              </a:spcBef>
              <a:defRPr sz="1000">
                <a:solidFill>
                  <a:srgbClr val="E2E8F0"/>
                </a:solidFill>
              </a:defRPr>
            </a:pPr>
            <a:r>
              <a:t>• 2. Multilingual ASR: Transcribe English, Hindi, Telugu, and Tamil with automated language detection.</a:t>
            </a:r>
          </a:p>
          <a:p>
            <a:pPr>
              <a:spcBef>
                <a:spcPts val="800"/>
              </a:spcBef>
              <a:defRPr sz="1000">
                <a:solidFill>
                  <a:srgbClr val="E2E8F0"/>
                </a:solidFill>
              </a:defRPr>
            </a:pPr>
            <a:r>
              <a:t>• 3. Three Extractive Summarizers: Implement and benchmark TF-IDF, TextRank Graph, and MiniLM MMR.</a:t>
            </a:r>
          </a:p>
          <a:p>
            <a:pPr>
              <a:spcBef>
                <a:spcPts val="800"/>
              </a:spcBef>
              <a:defRPr sz="1000">
                <a:solidFill>
                  <a:srgbClr val="E2E8F0"/>
                </a:solidFill>
              </a:defRPr>
            </a:pPr>
            <a:r>
              <a:t>• 4. Legal-Domain Salience Boost: Weight statutory cues and segregate advocate claims from court rulings.</a:t>
            </a:r>
          </a:p>
          <a:p>
            <a:pPr>
              <a:spcBef>
                <a:spcPts val="800"/>
              </a:spcBef>
              <a:defRPr sz="1000">
                <a:solidFill>
                  <a:srgbClr val="E2E8F0"/>
                </a:solidFill>
              </a:defRPr>
            </a:pPr>
            <a:r>
              <a:t>• 5. Objective Evaluation: Benchmark using WER for ASR, and ROUGE-1/2/L and BERTScore for summaries.</a:t>
            </a:r>
          </a:p>
          <a:p>
            <a:pPr>
              <a:spcBef>
                <a:spcPts val="800"/>
              </a:spcBef>
              <a:defRPr sz="1000">
                <a:solidFill>
                  <a:srgbClr val="E2E8F0"/>
                </a:solidFill>
              </a:defRPr>
            </a:pPr>
            <a:r>
              <a:t>• 6. Interactive Web Application: Streamlit UI with synchronized video playback, clickable timestamps, and PDF export.</a:t>
            </a:r>
          </a:p>
        </p:txBody>
      </p:sp>
      <p:sp>
        <p:nvSpPr>
          <p:cNvPr id="8" name="Rounded Rectangle 7"/>
          <p:cNvSpPr/>
          <p:nvPr/>
        </p:nvSpPr>
        <p:spPr>
          <a:xfrm>
            <a:off x="7498079" y="1737360"/>
            <a:ext cx="3931920" cy="4480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250" b="1">
                <a:solidFill>
                  <a:srgbClr val="EF4444"/>
                </a:solidFill>
              </a:defRPr>
            </a:pPr>
            <a:r>
              <a:t>EXPLICIT SCOPE BOUNDARIES</a:t>
            </a:r>
          </a:p>
          <a:p>
            <a:pPr>
              <a:spcBef>
                <a:spcPts val="400"/>
              </a:spcBef>
              <a:defRPr sz="950" b="1">
                <a:solidFill>
                  <a:srgbClr val="F59E0B"/>
                </a:solidFill>
              </a:defRPr>
            </a:pPr>
            <a:r>
              <a:t>[OUT OF SCOPE / SAFETY CONSTRAINTS]</a:t>
            </a:r>
          </a:p>
          <a:p>
            <a:pPr>
              <a:spcBef>
                <a:spcPts val="1000"/>
              </a:spcBef>
              <a:defRPr sz="950">
                <a:solidFill>
                  <a:srgbClr val="E2E8F0"/>
                </a:solidFill>
              </a:defRPr>
            </a:pPr>
            <a:r>
              <a:t>❌ No Abstractive LLM Synthesis: To avoid hallucinatory generation and legal misstatement.</a:t>
            </a:r>
          </a:p>
          <a:p>
            <a:pPr>
              <a:spcBef>
                <a:spcPts val="1000"/>
              </a:spcBef>
              <a:defRPr sz="950">
                <a:solidFill>
                  <a:srgbClr val="E2E8F0"/>
                </a:solidFill>
              </a:defRPr>
            </a:pPr>
            <a:r>
              <a:t>❌ No Legal Outcome Prediction: System does not predict verdict or pass judicial judgment.</a:t>
            </a:r>
          </a:p>
          <a:p>
            <a:pPr>
              <a:spcBef>
                <a:spcPts val="1000"/>
              </a:spcBef>
              <a:defRPr sz="950">
                <a:solidFill>
                  <a:srgbClr val="E2E8F0"/>
                </a:solidFill>
              </a:defRPr>
            </a:pPr>
            <a:r>
              <a:t>❌ No Substitute for Human Counsel: Operates strictly as an assistive research review tool.</a:t>
            </a:r>
          </a:p>
          <a:p>
            <a:pPr>
              <a:spcBef>
                <a:spcPts val="1000"/>
              </a:spcBef>
              <a:defRPr sz="950">
                <a:solidFill>
                  <a:srgbClr val="E2E8F0"/>
                </a:solidFill>
              </a:defRPr>
            </a:pPr>
            <a:r>
              <a:t>❌ Human Verification Mandatory: Official court records take precedence over AI transcripts.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06 • LITERATURE SURVEY</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Comprehensive Literature Survey</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Systematic analysis of 6 verified benchmark papers in speech recognition, graph summarization, and legal NLP</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graphicFrame>
        <p:nvGraphicFramePr>
          <p:cNvPr id="7" name="Table 6"/>
          <p:cNvGraphicFramePr>
            <a:graphicFrameLocks noGrp="1"/>
          </p:cNvGraphicFramePr>
          <p:nvPr/>
        </p:nvGraphicFramePr>
        <p:xfrm>
          <a:off x="731520" y="1737360"/>
          <a:ext cx="10698480" cy="4389120"/>
        </p:xfrm>
        <a:graphic>
          <a:graphicData uri="http://schemas.openxmlformats.org/drawingml/2006/table">
            <a:tbl>
              <a:tblPr firstRow="1" bandRow="1">
                <a:tableStyleId>{5C22544A-7EE6-4342-B048-85BDC9FD1C3A}</a:tableStyleId>
              </a:tblPr>
              <a:tblGrid>
                <a:gridCol w="2011680"/>
                <a:gridCol w="2194560"/>
                <a:gridCol w="1828800"/>
                <a:gridCol w="2286000"/>
                <a:gridCol w="2377440"/>
              </a:tblGrid>
              <a:tr h="627017">
                <a:tc>
                  <a:txBody>
                    <a:bodyPr/>
                    <a:lstStyle/>
                    <a:p>
                      <a:pPr algn="ctr">
                        <a:defRPr sz="950" b="1">
                          <a:solidFill>
                            <a:srgbClr val="FFFFFF"/>
                          </a:solidFill>
                        </a:defRPr>
                      </a:pPr>
                      <a:r>
                        <a:t>Paper &amp; Author</a:t>
                      </a:r>
                    </a:p>
                  </a:txBody>
                  <a:tcPr>
                    <a:solidFill>
                      <a:srgbClr val="1E3A8A"/>
                    </a:solidFill>
                  </a:tcPr>
                </a:tc>
                <a:tc>
                  <a:txBody>
                    <a:bodyPr/>
                    <a:lstStyle/>
                    <a:p>
                      <a:pPr algn="ctr">
                        <a:defRPr sz="950" b="1">
                          <a:solidFill>
                            <a:srgbClr val="FFFFFF"/>
                          </a:solidFill>
                        </a:defRPr>
                      </a:pPr>
                      <a:r>
                        <a:t>Method</a:t>
                      </a:r>
                    </a:p>
                  </a:txBody>
                  <a:tcPr>
                    <a:solidFill>
                      <a:srgbClr val="1E3A8A"/>
                    </a:solidFill>
                  </a:tcPr>
                </a:tc>
                <a:tc>
                  <a:txBody>
                    <a:bodyPr/>
                    <a:lstStyle/>
                    <a:p>
                      <a:pPr algn="ctr">
                        <a:defRPr sz="950" b="1">
                          <a:solidFill>
                            <a:srgbClr val="FFFFFF"/>
                          </a:solidFill>
                        </a:defRPr>
                      </a:pPr>
                      <a:r>
                        <a:t>Dataset</a:t>
                      </a:r>
                    </a:p>
                  </a:txBody>
                  <a:tcPr>
                    <a:solidFill>
                      <a:srgbClr val="1E3A8A"/>
                    </a:solidFill>
                  </a:tcPr>
                </a:tc>
                <a:tc>
                  <a:txBody>
                    <a:bodyPr/>
                    <a:lstStyle/>
                    <a:p>
                      <a:pPr algn="ctr">
                        <a:defRPr sz="950" b="1">
                          <a:solidFill>
                            <a:srgbClr val="FFFFFF"/>
                          </a:solidFill>
                        </a:defRPr>
                      </a:pPr>
                      <a:r>
                        <a:t>Reported Result</a:t>
                      </a:r>
                    </a:p>
                  </a:txBody>
                  <a:tcPr>
                    <a:solidFill>
                      <a:srgbClr val="1E3A8A"/>
                    </a:solidFill>
                  </a:tcPr>
                </a:tc>
                <a:tc>
                  <a:txBody>
                    <a:bodyPr/>
                    <a:lstStyle/>
                    <a:p>
                      <a:pPr algn="ctr">
                        <a:defRPr sz="950" b="1">
                          <a:solidFill>
                            <a:srgbClr val="FFFFFF"/>
                          </a:solidFill>
                        </a:defRPr>
                      </a:pPr>
                      <a:r>
                        <a:t>Identified Research Gap</a:t>
                      </a:r>
                    </a:p>
                  </a:txBody>
                  <a:tcPr>
                    <a:solidFill>
                      <a:srgbClr val="1E3A8A"/>
                    </a:solidFill>
                  </a:tcPr>
                </a:tc>
              </a:tr>
              <a:tr h="627017">
                <a:tc>
                  <a:txBody>
                    <a:bodyPr/>
                    <a:lstStyle/>
                    <a:p>
                      <a:pPr>
                        <a:defRPr sz="850">
                          <a:solidFill>
                            <a:srgbClr val="38BDF8"/>
                          </a:solidFill>
                        </a:defRPr>
                      </a:pPr>
                      <a:r>
                        <a:t>Radford et al. (OpenAI, 2023)</a:t>
                      </a:r>
                    </a:p>
                  </a:txBody>
                  <a:tcPr>
                    <a:solidFill>
                      <a:srgbClr val="1E293B"/>
                    </a:solidFill>
                  </a:tcPr>
                </a:tc>
                <a:tc>
                  <a:txBody>
                    <a:bodyPr/>
                    <a:lstStyle/>
                    <a:p>
                      <a:pPr>
                        <a:defRPr sz="850">
                          <a:solidFill>
                            <a:srgbClr val="E2E8F0"/>
                          </a:solidFill>
                        </a:defRPr>
                      </a:pPr>
                      <a:r>
                        <a:t>Whisper Multilingual Weak Supervision</a:t>
                      </a:r>
                    </a:p>
                  </a:txBody>
                  <a:tcPr>
                    <a:solidFill>
                      <a:srgbClr val="1E293B"/>
                    </a:solidFill>
                  </a:tcPr>
                </a:tc>
                <a:tc>
                  <a:txBody>
                    <a:bodyPr/>
                    <a:lstStyle/>
                    <a:p>
                      <a:pPr>
                        <a:defRPr sz="850">
                          <a:solidFill>
                            <a:srgbClr val="E2E8F0"/>
                          </a:solidFill>
                        </a:defRPr>
                      </a:pPr>
                      <a:r>
                        <a:t>680,000 hrs web audio</a:t>
                      </a:r>
                    </a:p>
                  </a:txBody>
                  <a:tcPr>
                    <a:solidFill>
                      <a:srgbClr val="1E293B"/>
                    </a:solidFill>
                  </a:tcPr>
                </a:tc>
                <a:tc>
                  <a:txBody>
                    <a:bodyPr/>
                    <a:lstStyle/>
                    <a:p>
                      <a:pPr>
                        <a:defRPr sz="850">
                          <a:solidFill>
                            <a:srgbClr val="E2E8F0"/>
                          </a:solidFill>
                        </a:defRPr>
                      </a:pPr>
                      <a:r>
                        <a:t>Robust multilingual zero-shot ASR</a:t>
                      </a:r>
                    </a:p>
                  </a:txBody>
                  <a:tcPr>
                    <a:solidFill>
                      <a:srgbClr val="1E293B"/>
                    </a:solidFill>
                  </a:tcPr>
                </a:tc>
                <a:tc>
                  <a:txBody>
                    <a:bodyPr/>
                    <a:lstStyle/>
                    <a:p>
                      <a:pPr>
                        <a:defRPr sz="850">
                          <a:solidFill>
                            <a:srgbClr val="EF4444"/>
                          </a:solidFill>
                        </a:defRPr>
                      </a:pPr>
                      <a:r>
                        <a:t>Lacks legal domain cues; loops on court echo</a:t>
                      </a:r>
                    </a:p>
                  </a:txBody>
                  <a:tcPr>
                    <a:solidFill>
                      <a:srgbClr val="1E293B"/>
                    </a:solidFill>
                  </a:tcPr>
                </a:tc>
              </a:tr>
              <a:tr h="627017">
                <a:tc>
                  <a:txBody>
                    <a:bodyPr/>
                    <a:lstStyle/>
                    <a:p>
                      <a:pPr>
                        <a:defRPr sz="850">
                          <a:solidFill>
                            <a:srgbClr val="38BDF8"/>
                          </a:solidFill>
                        </a:defRPr>
                      </a:pPr>
                      <a:r>
                        <a:t>Mihalcea &amp; Tarau (EMNLP, 2004)</a:t>
                      </a:r>
                    </a:p>
                  </a:txBody>
                  <a:tcPr>
                    <a:solidFill>
                      <a:srgbClr val="111827"/>
                    </a:solidFill>
                  </a:tcPr>
                </a:tc>
                <a:tc>
                  <a:txBody>
                    <a:bodyPr/>
                    <a:lstStyle/>
                    <a:p>
                      <a:pPr>
                        <a:defRPr sz="850">
                          <a:solidFill>
                            <a:srgbClr val="E2E8F0"/>
                          </a:solidFill>
                        </a:defRPr>
                      </a:pPr>
                      <a:r>
                        <a:t>TextRank: Graph PageRank Centrality</a:t>
                      </a:r>
                    </a:p>
                  </a:txBody>
                  <a:tcPr>
                    <a:solidFill>
                      <a:srgbClr val="111827"/>
                    </a:solidFill>
                  </a:tcPr>
                </a:tc>
                <a:tc>
                  <a:txBody>
                    <a:bodyPr/>
                    <a:lstStyle/>
                    <a:p>
                      <a:pPr>
                        <a:defRPr sz="850">
                          <a:solidFill>
                            <a:srgbClr val="E2E8F0"/>
                          </a:solidFill>
                        </a:defRPr>
                      </a:pPr>
                      <a:r>
                        <a:t>Open-domain text</a:t>
                      </a:r>
                    </a:p>
                  </a:txBody>
                  <a:tcPr>
                    <a:solidFill>
                      <a:srgbClr val="111827"/>
                    </a:solidFill>
                  </a:tcPr>
                </a:tc>
                <a:tc>
                  <a:txBody>
                    <a:bodyPr/>
                    <a:lstStyle/>
                    <a:p>
                      <a:pPr>
                        <a:defRPr sz="850">
                          <a:solidFill>
                            <a:srgbClr val="E2E8F0"/>
                          </a:solidFill>
                        </a:defRPr>
                      </a:pPr>
                      <a:r>
                        <a:t>Unsupervised lexical salience ranking</a:t>
                      </a:r>
                    </a:p>
                  </a:txBody>
                  <a:tcPr>
                    <a:solidFill>
                      <a:srgbClr val="111827"/>
                    </a:solidFill>
                  </a:tcPr>
                </a:tc>
                <a:tc>
                  <a:txBody>
                    <a:bodyPr/>
                    <a:lstStyle/>
                    <a:p>
                      <a:pPr>
                        <a:defRPr sz="850">
                          <a:solidFill>
                            <a:srgbClr val="EF4444"/>
                          </a:solidFill>
                        </a:defRPr>
                      </a:pPr>
                      <a:r>
                        <a:t>Generic sentences; no timestamp or audio link</a:t>
                      </a:r>
                    </a:p>
                  </a:txBody>
                  <a:tcPr>
                    <a:solidFill>
                      <a:srgbClr val="111827"/>
                    </a:solidFill>
                  </a:tcPr>
                </a:tc>
              </a:tr>
              <a:tr h="627017">
                <a:tc>
                  <a:txBody>
                    <a:bodyPr/>
                    <a:lstStyle/>
                    <a:p>
                      <a:pPr>
                        <a:defRPr sz="850">
                          <a:solidFill>
                            <a:srgbClr val="38BDF8"/>
                          </a:solidFill>
                        </a:defRPr>
                      </a:pPr>
                      <a:r>
                        <a:t>Reimers &amp; Gurevych (EMNLP, 2019)</a:t>
                      </a:r>
                    </a:p>
                  </a:txBody>
                  <a:tcPr>
                    <a:solidFill>
                      <a:srgbClr val="1E293B"/>
                    </a:solidFill>
                  </a:tcPr>
                </a:tc>
                <a:tc>
                  <a:txBody>
                    <a:bodyPr/>
                    <a:lstStyle/>
                    <a:p>
                      <a:pPr>
                        <a:defRPr sz="850">
                          <a:solidFill>
                            <a:srgbClr val="E2E8F0"/>
                          </a:solidFill>
                        </a:defRPr>
                      </a:pPr>
                      <a:r>
                        <a:t>Sentence-BERT / MiniLM Embeddings</a:t>
                      </a:r>
                    </a:p>
                  </a:txBody>
                  <a:tcPr>
                    <a:solidFill>
                      <a:srgbClr val="1E293B"/>
                    </a:solidFill>
                  </a:tcPr>
                </a:tc>
                <a:tc>
                  <a:txBody>
                    <a:bodyPr/>
                    <a:lstStyle/>
                    <a:p>
                      <a:pPr>
                        <a:defRPr sz="850">
                          <a:solidFill>
                            <a:srgbClr val="E2E8F0"/>
                          </a:solidFill>
                        </a:defRPr>
                      </a:pPr>
                      <a:r>
                        <a:t>NLI &amp; STS text corpora</a:t>
                      </a:r>
                    </a:p>
                  </a:txBody>
                  <a:tcPr>
                    <a:solidFill>
                      <a:srgbClr val="1E293B"/>
                    </a:solidFill>
                  </a:tcPr>
                </a:tc>
                <a:tc>
                  <a:txBody>
                    <a:bodyPr/>
                    <a:lstStyle/>
                    <a:p>
                      <a:pPr>
                        <a:defRPr sz="850">
                          <a:solidFill>
                            <a:srgbClr val="E2E8F0"/>
                          </a:solidFill>
                        </a:defRPr>
                      </a:pPr>
                      <a:r>
                        <a:t>Fast dense semantic similarity</a:t>
                      </a:r>
                    </a:p>
                  </a:txBody>
                  <a:tcPr>
                    <a:solidFill>
                      <a:srgbClr val="1E293B"/>
                    </a:solidFill>
                  </a:tcPr>
                </a:tc>
                <a:tc>
                  <a:txBody>
                    <a:bodyPr/>
                    <a:lstStyle/>
                    <a:p>
                      <a:pPr>
                        <a:defRPr sz="850">
                          <a:solidFill>
                            <a:srgbClr val="EF4444"/>
                          </a:solidFill>
                        </a:defRPr>
                      </a:pPr>
                      <a:r>
                        <a:t>Conflates advocate claims with judicial rulings</a:t>
                      </a:r>
                    </a:p>
                  </a:txBody>
                  <a:tcPr>
                    <a:solidFill>
                      <a:srgbClr val="1E293B"/>
                    </a:solidFill>
                  </a:tcPr>
                </a:tc>
              </a:tr>
              <a:tr h="627017">
                <a:tc>
                  <a:txBody>
                    <a:bodyPr/>
                    <a:lstStyle/>
                    <a:p>
                      <a:pPr>
                        <a:defRPr sz="850">
                          <a:solidFill>
                            <a:srgbClr val="38BDF8"/>
                          </a:solidFill>
                        </a:defRPr>
                      </a:pPr>
                      <a:r>
                        <a:t>Bhattacharya et al. (AI &amp; Law, 2021)</a:t>
                      </a:r>
                    </a:p>
                  </a:txBody>
                  <a:tcPr>
                    <a:solidFill>
                      <a:srgbClr val="111827"/>
                    </a:solidFill>
                  </a:tcPr>
                </a:tc>
                <a:tc>
                  <a:txBody>
                    <a:bodyPr/>
                    <a:lstStyle/>
                    <a:p>
                      <a:pPr>
                        <a:defRPr sz="850">
                          <a:solidFill>
                            <a:srgbClr val="E2E8F0"/>
                          </a:solidFill>
                        </a:defRPr>
                      </a:pPr>
                      <a:r>
                        <a:t>Legal Judgment Summarization</a:t>
                      </a:r>
                    </a:p>
                  </a:txBody>
                  <a:tcPr>
                    <a:solidFill>
                      <a:srgbClr val="111827"/>
                    </a:solidFill>
                  </a:tcPr>
                </a:tc>
                <a:tc>
                  <a:txBody>
                    <a:bodyPr/>
                    <a:lstStyle/>
                    <a:p>
                      <a:pPr>
                        <a:defRPr sz="850">
                          <a:solidFill>
                            <a:srgbClr val="E2E8F0"/>
                          </a:solidFill>
                        </a:defRPr>
                      </a:pPr>
                      <a:r>
                        <a:t>Indian Supreme Court texts</a:t>
                      </a:r>
                    </a:p>
                  </a:txBody>
                  <a:tcPr>
                    <a:solidFill>
                      <a:srgbClr val="111827"/>
                    </a:solidFill>
                  </a:tcPr>
                </a:tc>
                <a:tc>
                  <a:txBody>
                    <a:bodyPr/>
                    <a:lstStyle/>
                    <a:p>
                      <a:pPr>
                        <a:defRPr sz="850">
                          <a:solidFill>
                            <a:srgbClr val="E2E8F0"/>
                          </a:solidFill>
                        </a:defRPr>
                      </a:pPr>
                      <a:r>
                        <a:t>Domain-specific text summaries</a:t>
                      </a:r>
                    </a:p>
                  </a:txBody>
                  <a:tcPr>
                    <a:solidFill>
                      <a:srgbClr val="111827"/>
                    </a:solidFill>
                  </a:tcPr>
                </a:tc>
                <a:tc>
                  <a:txBody>
                    <a:bodyPr/>
                    <a:lstStyle/>
                    <a:p>
                      <a:pPr>
                        <a:defRPr sz="850">
                          <a:solidFill>
                            <a:srgbClr val="EF4444"/>
                          </a:solidFill>
                        </a:defRPr>
                      </a:pPr>
                      <a:r>
                        <a:t>Text-only; zero speech or video integration</a:t>
                      </a:r>
                    </a:p>
                  </a:txBody>
                  <a:tcPr>
                    <a:solidFill>
                      <a:srgbClr val="111827"/>
                    </a:solidFill>
                  </a:tcPr>
                </a:tc>
              </a:tr>
              <a:tr h="627017">
                <a:tc>
                  <a:txBody>
                    <a:bodyPr/>
                    <a:lstStyle/>
                    <a:p>
                      <a:pPr>
                        <a:defRPr sz="850">
                          <a:solidFill>
                            <a:srgbClr val="38BDF8"/>
                          </a:solidFill>
                        </a:defRPr>
                      </a:pPr>
                      <a:r>
                        <a:t>Carbonell &amp; Goldstein (SIGIR, 1998)</a:t>
                      </a:r>
                    </a:p>
                  </a:txBody>
                  <a:tcPr>
                    <a:solidFill>
                      <a:srgbClr val="1E293B"/>
                    </a:solidFill>
                  </a:tcPr>
                </a:tc>
                <a:tc>
                  <a:txBody>
                    <a:bodyPr/>
                    <a:lstStyle/>
                    <a:p>
                      <a:pPr>
                        <a:defRPr sz="850">
                          <a:solidFill>
                            <a:srgbClr val="E2E8F0"/>
                          </a:solidFill>
                        </a:defRPr>
                      </a:pPr>
                      <a:r>
                        <a:t>Maximal Marginal Relevance (MMR)</a:t>
                      </a:r>
                    </a:p>
                  </a:txBody>
                  <a:tcPr>
                    <a:solidFill>
                      <a:srgbClr val="1E293B"/>
                    </a:solidFill>
                  </a:tcPr>
                </a:tc>
                <a:tc>
                  <a:txBody>
                    <a:bodyPr/>
                    <a:lstStyle/>
                    <a:p>
                      <a:pPr>
                        <a:defRPr sz="850">
                          <a:solidFill>
                            <a:srgbClr val="E2E8F0"/>
                          </a:solidFill>
                        </a:defRPr>
                      </a:pPr>
                      <a:r>
                        <a:t>Document retrieval</a:t>
                      </a:r>
                    </a:p>
                  </a:txBody>
                  <a:tcPr>
                    <a:solidFill>
                      <a:srgbClr val="1E293B"/>
                    </a:solidFill>
                  </a:tcPr>
                </a:tc>
                <a:tc>
                  <a:txBody>
                    <a:bodyPr/>
                    <a:lstStyle/>
                    <a:p>
                      <a:pPr>
                        <a:defRPr sz="850">
                          <a:solidFill>
                            <a:srgbClr val="E2E8F0"/>
                          </a:solidFill>
                        </a:defRPr>
                      </a:pPr>
                      <a:r>
                        <a:t>Balances coverage vs redundancy</a:t>
                      </a:r>
                    </a:p>
                  </a:txBody>
                  <a:tcPr>
                    <a:solidFill>
                      <a:srgbClr val="1E293B"/>
                    </a:solidFill>
                  </a:tcPr>
                </a:tc>
                <a:tc>
                  <a:txBody>
                    <a:bodyPr/>
                    <a:lstStyle/>
                    <a:p>
                      <a:pPr>
                        <a:defRPr sz="850">
                          <a:solidFill>
                            <a:srgbClr val="EF4444"/>
                          </a:solidFill>
                        </a:defRPr>
                      </a:pPr>
                      <a:r>
                        <a:t>Lacks statutory citation weighting</a:t>
                      </a:r>
                    </a:p>
                  </a:txBody>
                  <a:tcPr>
                    <a:solidFill>
                      <a:srgbClr val="1E293B"/>
                    </a:solidFill>
                  </a:tcPr>
                </a:tc>
              </a:tr>
              <a:tr h="627018">
                <a:tc>
                  <a:txBody>
                    <a:bodyPr/>
                    <a:lstStyle/>
                    <a:p>
                      <a:pPr>
                        <a:defRPr sz="850">
                          <a:solidFill>
                            <a:srgbClr val="38BDF8"/>
                          </a:solidFill>
                        </a:defRPr>
                      </a:pPr>
                      <a:r>
                        <a:t>ITU-R / EBU R128 (2014)</a:t>
                      </a:r>
                    </a:p>
                  </a:txBody>
                  <a:tcPr>
                    <a:solidFill>
                      <a:srgbClr val="111827"/>
                    </a:solidFill>
                  </a:tcPr>
                </a:tc>
                <a:tc>
                  <a:txBody>
                    <a:bodyPr/>
                    <a:lstStyle/>
                    <a:p>
                      <a:pPr>
                        <a:defRPr sz="850">
                          <a:solidFill>
                            <a:srgbClr val="E2E8F0"/>
                          </a:solidFill>
                        </a:defRPr>
                      </a:pPr>
                      <a:r>
                        <a:t>Integrated Loudness Normalization</a:t>
                      </a:r>
                    </a:p>
                  </a:txBody>
                  <a:tcPr>
                    <a:solidFill>
                      <a:srgbClr val="111827"/>
                    </a:solidFill>
                  </a:tcPr>
                </a:tc>
                <a:tc>
                  <a:txBody>
                    <a:bodyPr/>
                    <a:lstStyle/>
                    <a:p>
                      <a:pPr>
                        <a:defRPr sz="850">
                          <a:solidFill>
                            <a:srgbClr val="E2E8F0"/>
                          </a:solidFill>
                        </a:defRPr>
                      </a:pPr>
                      <a:r>
                        <a:t>Broadcast audio signals</a:t>
                      </a:r>
                    </a:p>
                  </a:txBody>
                  <a:tcPr>
                    <a:solidFill>
                      <a:srgbClr val="111827"/>
                    </a:solidFill>
                  </a:tcPr>
                </a:tc>
                <a:tc>
                  <a:txBody>
                    <a:bodyPr/>
                    <a:lstStyle/>
                    <a:p>
                      <a:pPr>
                        <a:defRPr sz="850">
                          <a:solidFill>
                            <a:srgbClr val="E2E8F0"/>
                          </a:solidFill>
                        </a:defRPr>
                      </a:pPr>
                      <a:r>
                        <a:t>-23 LUFS perceptual standard</a:t>
                      </a:r>
                    </a:p>
                  </a:txBody>
                  <a:tcPr>
                    <a:solidFill>
                      <a:srgbClr val="111827"/>
                    </a:solidFill>
                  </a:tcPr>
                </a:tc>
                <a:tc>
                  <a:txBody>
                    <a:bodyPr/>
                    <a:lstStyle/>
                    <a:p>
                      <a:pPr>
                        <a:defRPr sz="850">
                          <a:solidFill>
                            <a:srgbClr val="EF4444"/>
                          </a:solidFill>
                        </a:defRPr>
                      </a:pPr>
                      <a:r>
                        <a:t>Broadcast spec; unintegrated with legal ASR</a:t>
                      </a:r>
                    </a:p>
                  </a:txBody>
                  <a:tcPr>
                    <a:solidFill>
                      <a:srgbClr val="11182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07 • RESEARCH GAP</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Research Gap &amp; What is Original in My Work</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Bridging the disconnect between spoken courtroom media, legal domain rules, and temporal auditability</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4480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250" b="1">
                <a:solidFill>
                  <a:srgbClr val="EF4444"/>
                </a:solidFill>
              </a:defRPr>
            </a:pPr>
            <a:r>
              <a:t>WHAT EXISTING WORK MISSES</a:t>
            </a:r>
          </a:p>
          <a:p>
            <a:pPr>
              <a:spcBef>
                <a:spcPts val="800"/>
              </a:spcBef>
              <a:defRPr sz="1050" b="1">
                <a:solidFill>
                  <a:srgbClr val="FFFFFF"/>
                </a:solidFill>
              </a:defRPr>
            </a:pPr>
            <a:r>
              <a:t>❌ Spoken Media Disconnect</a:t>
            </a:r>
          </a:p>
          <a:p>
            <a:pPr>
              <a:defRPr sz="950">
                <a:solidFill>
                  <a:srgbClr val="E2E8F0"/>
                </a:solidFill>
              </a:defRPr>
            </a:pPr>
            <a:r>
              <a:t>Existing legal NLP focuses exclusively on written appellate judgements, ignoring spoken courtroom video where real cross-examinations occur.</a:t>
            </a:r>
          </a:p>
          <a:p>
            <a:pPr>
              <a:spcBef>
                <a:spcPts val="800"/>
              </a:spcBef>
              <a:defRPr sz="1050" b="1">
                <a:solidFill>
                  <a:srgbClr val="FFFFFF"/>
                </a:solidFill>
              </a:defRPr>
            </a:pPr>
            <a:r>
              <a:t>❌ Generative Hallucination</a:t>
            </a:r>
          </a:p>
          <a:p>
            <a:pPr>
              <a:defRPr sz="950">
                <a:solidFill>
                  <a:srgbClr val="E2E8F0"/>
                </a:solidFill>
              </a:defRPr>
            </a:pPr>
            <a:r>
              <a:t>Standard LLMs paraphrase text and catastrophically turn an advocate's unproven allegation into a binding judicial ruling.</a:t>
            </a:r>
          </a:p>
          <a:p>
            <a:pPr>
              <a:spcBef>
                <a:spcPts val="800"/>
              </a:spcBef>
              <a:defRPr sz="1050" b="1">
                <a:solidFill>
                  <a:srgbClr val="FFFFFF"/>
                </a:solidFill>
              </a:defRPr>
            </a:pPr>
            <a:r>
              <a:t>❌ No Temporal Anchors</a:t>
            </a:r>
          </a:p>
          <a:p>
            <a:pPr>
              <a:defRPr sz="950">
                <a:solidFill>
                  <a:srgbClr val="E2E8F0"/>
                </a:solidFill>
              </a:defRPr>
            </a:pPr>
            <a:r>
              <a:t>Text summaries cannot be verified against the source video without manual scrubbing.</a:t>
            </a:r>
          </a:p>
          <a:p>
            <a:pPr>
              <a:spcBef>
                <a:spcPts val="800"/>
              </a:spcBef>
              <a:defRPr sz="1050" b="1">
                <a:solidFill>
                  <a:srgbClr val="FFFFFF"/>
                </a:solidFill>
              </a:defRPr>
            </a:pPr>
            <a:r>
              <a:t>❌ Neglect of Regional Code-Switching</a:t>
            </a:r>
          </a:p>
          <a:p>
            <a:pPr>
              <a:defRPr sz="950">
                <a:solidFill>
                  <a:srgbClr val="E2E8F0"/>
                </a:solidFill>
              </a:defRPr>
            </a:pPr>
            <a:r>
              <a:t>Few systems handle code-switched Indian legal speech (Telugu/Hindi mixed with English statutes).</a:t>
            </a:r>
          </a:p>
        </p:txBody>
      </p:sp>
      <p:sp>
        <p:nvSpPr>
          <p:cNvPr id="8" name="Rounded Rectangle 7"/>
          <p:cNvSpPr/>
          <p:nvPr/>
        </p:nvSpPr>
        <p:spPr>
          <a:xfrm>
            <a:off x="6217920" y="1737360"/>
            <a:ext cx="52120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250" b="1">
                <a:solidFill>
                  <a:srgbClr val="10B981"/>
                </a:solidFill>
              </a:defRPr>
            </a:pPr>
            <a:r>
              <a:t>WHAT IS ORIGINAL IN MY WORK (NOVELTY)</a:t>
            </a:r>
          </a:p>
          <a:p>
            <a:pPr>
              <a:spcBef>
                <a:spcPts val="800"/>
              </a:spcBef>
              <a:defRPr sz="1050" b="1">
                <a:solidFill>
                  <a:srgbClr val="F59E0B"/>
                </a:solidFill>
              </a:defRPr>
            </a:pPr>
            <a:r>
              <a:t>⭐ 1. Legal Cue Salience Booster</a:t>
            </a:r>
          </a:p>
          <a:p>
            <a:pPr>
              <a:defRPr sz="950">
                <a:solidFill>
                  <a:srgbClr val="E2E8F0"/>
                </a:solidFill>
              </a:defRPr>
            </a:pPr>
            <a:r>
              <a:t>A 4-tier statutory lexicon boosting judicial rulings (2.5x) and penalizing advocate allegations (0.85x), yielding an +8.2% Sentence F1 gain.</a:t>
            </a:r>
          </a:p>
          <a:p>
            <a:pPr>
              <a:spcBef>
                <a:spcPts val="800"/>
              </a:spcBef>
              <a:defRPr sz="1050" b="1">
                <a:solidFill>
                  <a:srgbClr val="F59E0B"/>
                </a:solidFill>
              </a:defRPr>
            </a:pPr>
            <a:r>
              <a:t>⭐ 2. Translating First vs Original Language</a:t>
            </a:r>
          </a:p>
          <a:p>
            <a:pPr>
              <a:defRPr sz="950">
                <a:solidFill>
                  <a:srgbClr val="E2E8F0"/>
                </a:solidFill>
              </a:defRPr>
            </a:pPr>
            <a:r>
              <a:t>Systematic empirical ablation comparing summarization performed on translated English vs summarization in the native Indic vernacular.</a:t>
            </a:r>
          </a:p>
          <a:p>
            <a:pPr>
              <a:spcBef>
                <a:spcPts val="800"/>
              </a:spcBef>
              <a:defRPr sz="1050" b="1">
                <a:solidFill>
                  <a:srgbClr val="F59E0B"/>
                </a:solidFill>
              </a:defRPr>
            </a:pPr>
            <a:r>
              <a:t>⭐ 3. Microsecond Temporal Hyperlinks</a:t>
            </a:r>
          </a:p>
          <a:p>
            <a:pPr>
              <a:defRPr sz="950">
                <a:solidFill>
                  <a:srgbClr val="E2E8F0"/>
                </a:solidFill>
              </a:defRPr>
            </a:pPr>
            <a:r>
              <a:t>Every extracted sentence maps to its exact [start_time, end_time] timestamp with one-click video scrubbing.</a:t>
            </a:r>
          </a:p>
          <a:p>
            <a:pPr>
              <a:spcBef>
                <a:spcPts val="800"/>
              </a:spcBef>
              <a:defRPr sz="1050" b="1">
                <a:solidFill>
                  <a:srgbClr val="F59E0B"/>
                </a:solidFill>
              </a:defRPr>
            </a:pPr>
            <a:r>
              <a:t>⭐ 4. Negation &amp; Citation Preservation</a:t>
            </a:r>
          </a:p>
          <a:p>
            <a:pPr>
              <a:defRPr sz="950">
                <a:solidFill>
                  <a:srgbClr val="E2E8F0"/>
                </a:solidFill>
              </a:defRPr>
            </a:pPr>
            <a:r>
              <a:t>Hard-coded safety lock preserving negation tokens ('not', 'never', 'kaadu') to prevent inverting legal liability.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08 • ARCHITECTURE</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End-to-End System Architecture</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Video -&gt; Audio Extraction -&gt; Preprocessing -&gt; Whisper ASR -&gt; Translation -&gt; Cleaning -&gt; 3 Summarizers + Booster -&gt; UI</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pic>
        <p:nvPicPr>
          <p:cNvPr id="7" name="Picture 6" descr="architecture_clean.png"/>
          <p:cNvPicPr>
            <a:picLocks noChangeAspect="1"/>
          </p:cNvPicPr>
          <p:nvPr/>
        </p:nvPicPr>
        <p:blipFill>
          <a:blip r:embed="rId2"/>
          <a:stretch>
            <a:fillRect/>
          </a:stretch>
        </p:blipFill>
        <p:spPr>
          <a:xfrm>
            <a:off x="731520" y="1737360"/>
            <a:ext cx="10698480" cy="4480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09 • DATASET PLAN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Dataset Plan &amp; Procedural Inventory</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Curated benchmark corpus across 10 courtroom proceedings, 4 languages, and gold-standard annotations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graphicFrame>
        <p:nvGraphicFramePr>
          <p:cNvPr id="7" name="Table 6"/>
          <p:cNvGraphicFramePr>
            <a:graphicFrameLocks noGrp="1"/>
          </p:cNvGraphicFramePr>
          <p:nvPr/>
        </p:nvGraphicFramePr>
        <p:xfrm>
          <a:off x="731520" y="1737360"/>
          <a:ext cx="10698480" cy="2926080"/>
        </p:xfrm>
        <a:graphic>
          <a:graphicData uri="http://schemas.openxmlformats.org/drawingml/2006/table">
            <a:tbl>
              <a:tblPr firstRow="1" bandRow="1">
                <a:tableStyleId>{5C22544A-7EE6-4342-B048-85BDC9FD1C3A}</a:tableStyleId>
              </a:tblPr>
              <a:tblGrid>
                <a:gridCol w="1371600"/>
                <a:gridCol w="2560320"/>
                <a:gridCol w="1463040"/>
                <a:gridCol w="1188720"/>
                <a:gridCol w="2926080"/>
                <a:gridCol w="1188720"/>
              </a:tblGrid>
              <a:tr h="487680">
                <a:tc>
                  <a:txBody>
                    <a:bodyPr/>
                    <a:lstStyle/>
                    <a:p>
                      <a:pPr algn="ctr">
                        <a:defRPr sz="950" b="1">
                          <a:solidFill>
                            <a:srgbClr val="FFFFFF"/>
                          </a:solidFill>
                        </a:defRPr>
                      </a:pPr>
                      <a:r>
                        <a:t>Case ID</a:t>
                      </a:r>
                    </a:p>
                  </a:txBody>
                  <a:tcPr>
                    <a:solidFill>
                      <a:srgbClr val="1E3A8A"/>
                    </a:solidFill>
                  </a:tcPr>
                </a:tc>
                <a:tc>
                  <a:txBody>
                    <a:bodyPr/>
                    <a:lstStyle/>
                    <a:p>
                      <a:pPr algn="ctr">
                        <a:defRPr sz="950" b="1">
                          <a:solidFill>
                            <a:srgbClr val="FFFFFF"/>
                          </a:solidFill>
                        </a:defRPr>
                      </a:pPr>
                      <a:r>
                        <a:t>Source Title</a:t>
                      </a:r>
                    </a:p>
                  </a:txBody>
                  <a:tcPr>
                    <a:solidFill>
                      <a:srgbClr val="1E3A8A"/>
                    </a:solidFill>
                  </a:tcPr>
                </a:tc>
                <a:tc>
                  <a:txBody>
                    <a:bodyPr/>
                    <a:lstStyle/>
                    <a:p>
                      <a:pPr algn="ctr">
                        <a:defRPr sz="950" b="1">
                          <a:solidFill>
                            <a:srgbClr val="FFFFFF"/>
                          </a:solidFill>
                        </a:defRPr>
                      </a:pPr>
                      <a:r>
                        <a:t>Language</a:t>
                      </a:r>
                    </a:p>
                  </a:txBody>
                  <a:tcPr>
                    <a:solidFill>
                      <a:srgbClr val="1E3A8A"/>
                    </a:solidFill>
                  </a:tcPr>
                </a:tc>
                <a:tc>
                  <a:txBody>
                    <a:bodyPr/>
                    <a:lstStyle/>
                    <a:p>
                      <a:pPr algn="ctr">
                        <a:defRPr sz="950" b="1">
                          <a:solidFill>
                            <a:srgbClr val="FFFFFF"/>
                          </a:solidFill>
                        </a:defRPr>
                      </a:pPr>
                      <a:r>
                        <a:t>Duration</a:t>
                      </a:r>
                    </a:p>
                  </a:txBody>
                  <a:tcPr>
                    <a:solidFill>
                      <a:srgbClr val="1E3A8A"/>
                    </a:solidFill>
                  </a:tcPr>
                </a:tc>
                <a:tc>
                  <a:txBody>
                    <a:bodyPr/>
                    <a:lstStyle/>
                    <a:p>
                      <a:pPr algn="ctr">
                        <a:defRPr sz="950" b="1">
                          <a:solidFill>
                            <a:srgbClr val="FFFFFF"/>
                          </a:solidFill>
                        </a:defRPr>
                      </a:pPr>
                      <a:r>
                        <a:t>Acoustic Quality &amp; Procedural Type</a:t>
                      </a:r>
                    </a:p>
                  </a:txBody>
                  <a:tcPr>
                    <a:solidFill>
                      <a:srgbClr val="1E3A8A"/>
                    </a:solidFill>
                  </a:tcPr>
                </a:tc>
                <a:tc>
                  <a:txBody>
                    <a:bodyPr/>
                    <a:lstStyle/>
                    <a:p>
                      <a:pPr algn="ctr">
                        <a:defRPr sz="950" b="1">
                          <a:solidFill>
                            <a:srgbClr val="FFFFFF"/>
                          </a:solidFill>
                        </a:defRPr>
                      </a:pPr>
                      <a:r>
                        <a:t>Split</a:t>
                      </a:r>
                    </a:p>
                  </a:txBody>
                  <a:tcPr>
                    <a:solidFill>
                      <a:srgbClr val="1E3A8A"/>
                    </a:solidFill>
                  </a:tcPr>
                </a:tc>
              </a:tr>
              <a:tr h="487680">
                <a:tc>
                  <a:txBody>
                    <a:bodyPr/>
                    <a:lstStyle/>
                    <a:p>
                      <a:pPr algn="ctr">
                        <a:defRPr sz="850">
                          <a:solidFill>
                            <a:srgbClr val="38BDF8"/>
                          </a:solidFill>
                        </a:defRPr>
                      </a:pPr>
                      <a:r>
                        <a:t>CASE_EN_01</a:t>
                      </a:r>
                    </a:p>
                  </a:txBody>
                  <a:tcPr>
                    <a:solidFill>
                      <a:srgbClr val="1E293B"/>
                    </a:solidFill>
                  </a:tcPr>
                </a:tc>
                <a:tc>
                  <a:txBody>
                    <a:bodyPr/>
                    <a:lstStyle/>
                    <a:p>
                      <a:pPr>
                        <a:defRPr sz="850">
                          <a:solidFill>
                            <a:srgbClr val="E2E8F0"/>
                          </a:solidFill>
                        </a:defRPr>
                      </a:pPr>
                      <a:r>
                        <a:t>My Cousin Vinny (1992)</a:t>
                      </a:r>
                    </a:p>
                  </a:txBody>
                  <a:tcPr>
                    <a:solidFill>
                      <a:srgbClr val="1E293B"/>
                    </a:solidFill>
                  </a:tcPr>
                </a:tc>
                <a:tc>
                  <a:txBody>
                    <a:bodyPr/>
                    <a:lstStyle/>
                    <a:p>
                      <a:pPr algn="ctr">
                        <a:defRPr sz="850">
                          <a:solidFill>
                            <a:srgbClr val="E2E8F0"/>
                          </a:solidFill>
                        </a:defRPr>
                      </a:pPr>
                      <a:r>
                        <a:t>English (EN)</a:t>
                      </a:r>
                    </a:p>
                  </a:txBody>
                  <a:tcPr>
                    <a:solidFill>
                      <a:srgbClr val="1E293B"/>
                    </a:solidFill>
                  </a:tcPr>
                </a:tc>
                <a:tc>
                  <a:txBody>
                    <a:bodyPr/>
                    <a:lstStyle/>
                    <a:p>
                      <a:pPr algn="ctr">
                        <a:defRPr sz="850">
                          <a:solidFill>
                            <a:srgbClr val="E2E8F0"/>
                          </a:solidFill>
                        </a:defRPr>
                      </a:pPr>
                      <a:r>
                        <a:t>154.0s</a:t>
                      </a:r>
                    </a:p>
                  </a:txBody>
                  <a:tcPr>
                    <a:solidFill>
                      <a:srgbClr val="1E293B"/>
                    </a:solidFill>
                  </a:tcPr>
                </a:tc>
                <a:tc>
                  <a:txBody>
                    <a:bodyPr/>
                    <a:lstStyle/>
                    <a:p>
                      <a:pPr>
                        <a:defRPr sz="850">
                          <a:solidFill>
                            <a:srgbClr val="E2E8F0"/>
                          </a:solidFill>
                        </a:defRPr>
                      </a:pPr>
                      <a:r>
                        <a:t>Studio clean; automotive forensic cross-examination</a:t>
                      </a:r>
                    </a:p>
                  </a:txBody>
                  <a:tcPr>
                    <a:solidFill>
                      <a:srgbClr val="1E293B"/>
                    </a:solidFill>
                  </a:tcPr>
                </a:tc>
                <a:tc>
                  <a:txBody>
                    <a:bodyPr/>
                    <a:lstStyle/>
                    <a:p>
                      <a:pPr algn="ctr">
                        <a:defRPr sz="850">
                          <a:solidFill>
                            <a:srgbClr val="E2E8F0"/>
                          </a:solidFill>
                        </a:defRPr>
                      </a:pPr>
                      <a:r>
                        <a:t>Dev</a:t>
                      </a:r>
                    </a:p>
                  </a:txBody>
                  <a:tcPr>
                    <a:solidFill>
                      <a:srgbClr val="1E293B"/>
                    </a:solidFill>
                  </a:tcPr>
                </a:tc>
              </a:tr>
              <a:tr h="487680">
                <a:tc>
                  <a:txBody>
                    <a:bodyPr/>
                    <a:lstStyle/>
                    <a:p>
                      <a:pPr algn="ctr">
                        <a:defRPr sz="850">
                          <a:solidFill>
                            <a:srgbClr val="38BDF8"/>
                          </a:solidFill>
                        </a:defRPr>
                      </a:pPr>
                      <a:r>
                        <a:t>CASE_TE_01</a:t>
                      </a:r>
                    </a:p>
                  </a:txBody>
                  <a:tcPr>
                    <a:solidFill>
                      <a:srgbClr val="111827"/>
                    </a:solidFill>
                  </a:tcPr>
                </a:tc>
                <a:tc>
                  <a:txBody>
                    <a:bodyPr/>
                    <a:lstStyle/>
                    <a:p>
                      <a:pPr>
                        <a:defRPr sz="850">
                          <a:solidFill>
                            <a:srgbClr val="E2E8F0"/>
                          </a:solidFill>
                        </a:defRPr>
                      </a:pPr>
                      <a:r>
                        <a:t>Friendship (2022)</a:t>
                      </a:r>
                    </a:p>
                  </a:txBody>
                  <a:tcPr>
                    <a:solidFill>
                      <a:srgbClr val="111827"/>
                    </a:solidFill>
                  </a:tcPr>
                </a:tc>
                <a:tc>
                  <a:txBody>
                    <a:bodyPr/>
                    <a:lstStyle/>
                    <a:p>
                      <a:pPr algn="ctr">
                        <a:defRPr sz="850">
                          <a:solidFill>
                            <a:srgbClr val="E2E8F0"/>
                          </a:solidFill>
                        </a:defRPr>
                      </a:pPr>
                      <a:r>
                        <a:t>Telugu (TE)</a:t>
                      </a:r>
                    </a:p>
                  </a:txBody>
                  <a:tcPr>
                    <a:solidFill>
                      <a:srgbClr val="111827"/>
                    </a:solidFill>
                  </a:tcPr>
                </a:tc>
                <a:tc>
                  <a:txBody>
                    <a:bodyPr/>
                    <a:lstStyle/>
                    <a:p>
                      <a:pPr algn="ctr">
                        <a:defRPr sz="850">
                          <a:solidFill>
                            <a:srgbClr val="E2E8F0"/>
                          </a:solidFill>
                        </a:defRPr>
                      </a:pPr>
                      <a:r>
                        <a:t>309.1s</a:t>
                      </a:r>
                    </a:p>
                  </a:txBody>
                  <a:tcPr>
                    <a:solidFill>
                      <a:srgbClr val="111827"/>
                    </a:solidFill>
                  </a:tcPr>
                </a:tc>
                <a:tc>
                  <a:txBody>
                    <a:bodyPr/>
                    <a:lstStyle/>
                    <a:p>
                      <a:pPr>
                        <a:defRPr sz="850">
                          <a:solidFill>
                            <a:srgbClr val="E2E8F0"/>
                          </a:solidFill>
                        </a:defRPr>
                      </a:pPr>
                      <a:r>
                        <a:t>Dynamic score; student trial &amp; fast dialogue</a:t>
                      </a:r>
                    </a:p>
                  </a:txBody>
                  <a:tcPr>
                    <a:solidFill>
                      <a:srgbClr val="111827"/>
                    </a:solidFill>
                  </a:tcPr>
                </a:tc>
                <a:tc>
                  <a:txBody>
                    <a:bodyPr/>
                    <a:lstStyle/>
                    <a:p>
                      <a:pPr algn="ctr">
                        <a:defRPr sz="850">
                          <a:solidFill>
                            <a:srgbClr val="E2E8F0"/>
                          </a:solidFill>
                        </a:defRPr>
                      </a:pPr>
                      <a:r>
                        <a:t>Test</a:t>
                      </a:r>
                    </a:p>
                  </a:txBody>
                  <a:tcPr>
                    <a:solidFill>
                      <a:srgbClr val="111827"/>
                    </a:solidFill>
                  </a:tcPr>
                </a:tc>
              </a:tr>
              <a:tr h="487680">
                <a:tc>
                  <a:txBody>
                    <a:bodyPr/>
                    <a:lstStyle/>
                    <a:p>
                      <a:pPr algn="ctr">
                        <a:defRPr sz="850">
                          <a:solidFill>
                            <a:srgbClr val="38BDF8"/>
                          </a:solidFill>
                        </a:defRPr>
                      </a:pPr>
                      <a:r>
                        <a:t>CASE_TA_01</a:t>
                      </a:r>
                    </a:p>
                  </a:txBody>
                  <a:tcPr>
                    <a:solidFill>
                      <a:srgbClr val="1E293B"/>
                    </a:solidFill>
                  </a:tcPr>
                </a:tc>
                <a:tc>
                  <a:txBody>
                    <a:bodyPr/>
                    <a:lstStyle/>
                    <a:p>
                      <a:pPr>
                        <a:defRPr sz="850">
                          <a:solidFill>
                            <a:srgbClr val="E2E8F0"/>
                          </a:solidFill>
                        </a:defRPr>
                      </a:pPr>
                      <a:r>
                        <a:t>Parasakthi Classic (1952)</a:t>
                      </a:r>
                    </a:p>
                  </a:txBody>
                  <a:tcPr>
                    <a:solidFill>
                      <a:srgbClr val="1E293B"/>
                    </a:solidFill>
                  </a:tcPr>
                </a:tc>
                <a:tc>
                  <a:txBody>
                    <a:bodyPr/>
                    <a:lstStyle/>
                    <a:p>
                      <a:pPr algn="ctr">
                        <a:defRPr sz="850">
                          <a:solidFill>
                            <a:srgbClr val="E2E8F0"/>
                          </a:solidFill>
                        </a:defRPr>
                      </a:pPr>
                      <a:r>
                        <a:t>Tamil (TA)</a:t>
                      </a:r>
                    </a:p>
                  </a:txBody>
                  <a:tcPr>
                    <a:solidFill>
                      <a:srgbClr val="1E293B"/>
                    </a:solidFill>
                  </a:tcPr>
                </a:tc>
                <a:tc>
                  <a:txBody>
                    <a:bodyPr/>
                    <a:lstStyle/>
                    <a:p>
                      <a:pPr algn="ctr">
                        <a:defRPr sz="850">
                          <a:solidFill>
                            <a:srgbClr val="E2E8F0"/>
                          </a:solidFill>
                        </a:defRPr>
                      </a:pPr>
                      <a:r>
                        <a:t>299.0s</a:t>
                      </a:r>
                    </a:p>
                  </a:txBody>
                  <a:tcPr>
                    <a:solidFill>
                      <a:srgbClr val="1E293B"/>
                    </a:solidFill>
                  </a:tcPr>
                </a:tc>
                <a:tc>
                  <a:txBody>
                    <a:bodyPr/>
                    <a:lstStyle/>
                    <a:p>
                      <a:pPr>
                        <a:defRPr sz="850">
                          <a:solidFill>
                            <a:srgbClr val="E2E8F0"/>
                          </a:solidFill>
                        </a:defRPr>
                      </a:pPr>
                      <a:r>
                        <a:t>Historical mono; classic Dravidian rhetoric monologue</a:t>
                      </a:r>
                    </a:p>
                  </a:txBody>
                  <a:tcPr>
                    <a:solidFill>
                      <a:srgbClr val="1E293B"/>
                    </a:solidFill>
                  </a:tcPr>
                </a:tc>
                <a:tc>
                  <a:txBody>
                    <a:bodyPr/>
                    <a:lstStyle/>
                    <a:p>
                      <a:pPr algn="ctr">
                        <a:defRPr sz="850">
                          <a:solidFill>
                            <a:srgbClr val="E2E8F0"/>
                          </a:solidFill>
                        </a:defRPr>
                      </a:pPr>
                      <a:r>
                        <a:t>Dev</a:t>
                      </a:r>
                    </a:p>
                  </a:txBody>
                  <a:tcPr>
                    <a:solidFill>
                      <a:srgbClr val="1E293B"/>
                    </a:solidFill>
                  </a:tcPr>
                </a:tc>
              </a:tr>
              <a:tr h="487680">
                <a:tc>
                  <a:txBody>
                    <a:bodyPr/>
                    <a:lstStyle/>
                    <a:p>
                      <a:pPr algn="ctr">
                        <a:defRPr sz="850">
                          <a:solidFill>
                            <a:srgbClr val="38BDF8"/>
                          </a:solidFill>
                        </a:defRPr>
                      </a:pPr>
                      <a:r>
                        <a:t>CASE_HI_01</a:t>
                      </a:r>
                    </a:p>
                  </a:txBody>
                  <a:tcPr>
                    <a:solidFill>
                      <a:srgbClr val="111827"/>
                    </a:solidFill>
                  </a:tcPr>
                </a:tc>
                <a:tc>
                  <a:txBody>
                    <a:bodyPr/>
                    <a:lstStyle/>
                    <a:p>
                      <a:pPr>
                        <a:defRPr sz="850">
                          <a:solidFill>
                            <a:srgbClr val="E2E8F0"/>
                          </a:solidFill>
                        </a:defRPr>
                      </a:pPr>
                      <a:r>
                        <a:t>Criminal Justice S3</a:t>
                      </a:r>
                    </a:p>
                  </a:txBody>
                  <a:tcPr>
                    <a:solidFill>
                      <a:srgbClr val="111827"/>
                    </a:solidFill>
                  </a:tcPr>
                </a:tc>
                <a:tc>
                  <a:txBody>
                    <a:bodyPr/>
                    <a:lstStyle/>
                    <a:p>
                      <a:pPr algn="ctr">
                        <a:defRPr sz="850">
                          <a:solidFill>
                            <a:srgbClr val="E2E8F0"/>
                          </a:solidFill>
                        </a:defRPr>
                      </a:pPr>
                      <a:r>
                        <a:t>Hindi (HI)</a:t>
                      </a:r>
                    </a:p>
                  </a:txBody>
                  <a:tcPr>
                    <a:solidFill>
                      <a:srgbClr val="111827"/>
                    </a:solidFill>
                  </a:tcPr>
                </a:tc>
                <a:tc>
                  <a:txBody>
                    <a:bodyPr/>
                    <a:lstStyle/>
                    <a:p>
                      <a:pPr algn="ctr">
                        <a:defRPr sz="850">
                          <a:solidFill>
                            <a:srgbClr val="E2E8F0"/>
                          </a:solidFill>
                        </a:defRPr>
                      </a:pPr>
                      <a:r>
                        <a:t>151.3s</a:t>
                      </a:r>
                    </a:p>
                  </a:txBody>
                  <a:tcPr>
                    <a:solidFill>
                      <a:srgbClr val="111827"/>
                    </a:solidFill>
                  </a:tcPr>
                </a:tc>
                <a:tc>
                  <a:txBody>
                    <a:bodyPr/>
                    <a:lstStyle/>
                    <a:p>
                      <a:pPr>
                        <a:defRPr sz="850">
                          <a:solidFill>
                            <a:srgbClr val="E2E8F0"/>
                          </a:solidFill>
                        </a:defRPr>
                      </a:pPr>
                      <a:r>
                        <a:t>Studio clean; electronic alibi defense &amp; bail</a:t>
                      </a:r>
                    </a:p>
                  </a:txBody>
                  <a:tcPr>
                    <a:solidFill>
                      <a:srgbClr val="111827"/>
                    </a:solidFill>
                  </a:tcPr>
                </a:tc>
                <a:tc>
                  <a:txBody>
                    <a:bodyPr/>
                    <a:lstStyle/>
                    <a:p>
                      <a:pPr algn="ctr">
                        <a:defRPr sz="850">
                          <a:solidFill>
                            <a:srgbClr val="E2E8F0"/>
                          </a:solidFill>
                        </a:defRPr>
                      </a:pPr>
                      <a:r>
                        <a:t>Dev</a:t>
                      </a:r>
                    </a:p>
                  </a:txBody>
                  <a:tcPr>
                    <a:solidFill>
                      <a:srgbClr val="111827"/>
                    </a:solidFill>
                  </a:tcPr>
                </a:tc>
              </a:tr>
              <a:tr h="487680">
                <a:tc>
                  <a:txBody>
                    <a:bodyPr/>
                    <a:lstStyle/>
                    <a:p>
                      <a:pPr algn="ctr">
                        <a:defRPr sz="850">
                          <a:solidFill>
                            <a:srgbClr val="38BDF8"/>
                          </a:solidFill>
                        </a:defRPr>
                      </a:pPr>
                      <a:r>
                        <a:t>CASE_TE_02</a:t>
                      </a:r>
                    </a:p>
                  </a:txBody>
                  <a:tcPr>
                    <a:solidFill>
                      <a:srgbClr val="1E293B"/>
                    </a:solidFill>
                  </a:tcPr>
                </a:tc>
                <a:tc>
                  <a:txBody>
                    <a:bodyPr/>
                    <a:lstStyle/>
                    <a:p>
                      <a:pPr>
                        <a:defRPr sz="850">
                          <a:solidFill>
                            <a:srgbClr val="E2E8F0"/>
                          </a:solidFill>
                        </a:defRPr>
                      </a:pPr>
                      <a:r>
                        <a:t>Naandhi (2021)</a:t>
                      </a:r>
                    </a:p>
                  </a:txBody>
                  <a:tcPr>
                    <a:solidFill>
                      <a:srgbClr val="1E293B"/>
                    </a:solidFill>
                  </a:tcPr>
                </a:tc>
                <a:tc>
                  <a:txBody>
                    <a:bodyPr/>
                    <a:lstStyle/>
                    <a:p>
                      <a:pPr algn="ctr">
                        <a:defRPr sz="850">
                          <a:solidFill>
                            <a:srgbClr val="E2E8F0"/>
                          </a:solidFill>
                        </a:defRPr>
                      </a:pPr>
                      <a:r>
                        <a:t>Telugu (TE)</a:t>
                      </a:r>
                    </a:p>
                  </a:txBody>
                  <a:tcPr>
                    <a:solidFill>
                      <a:srgbClr val="1E293B"/>
                    </a:solidFill>
                  </a:tcPr>
                </a:tc>
                <a:tc>
                  <a:txBody>
                    <a:bodyPr/>
                    <a:lstStyle/>
                    <a:p>
                      <a:pPr algn="ctr">
                        <a:defRPr sz="850">
                          <a:solidFill>
                            <a:srgbClr val="E2E8F0"/>
                          </a:solidFill>
                        </a:defRPr>
                      </a:pPr>
                      <a:r>
                        <a:t>336.6s</a:t>
                      </a:r>
                    </a:p>
                  </a:txBody>
                  <a:tcPr>
                    <a:solidFill>
                      <a:srgbClr val="1E293B"/>
                    </a:solidFill>
                  </a:tcPr>
                </a:tc>
                <a:tc>
                  <a:txBody>
                    <a:bodyPr/>
                    <a:lstStyle/>
                    <a:p>
                      <a:pPr>
                        <a:defRPr sz="850">
                          <a:solidFill>
                            <a:srgbClr val="E2E8F0"/>
                          </a:solidFill>
                        </a:defRPr>
                      </a:pPr>
                      <a:r>
                        <a:t>Dramatic court; Section 211 IPC police inquiry motion</a:t>
                      </a:r>
                    </a:p>
                  </a:txBody>
                  <a:tcPr>
                    <a:solidFill>
                      <a:srgbClr val="1E293B"/>
                    </a:solidFill>
                  </a:tcPr>
                </a:tc>
                <a:tc>
                  <a:txBody>
                    <a:bodyPr/>
                    <a:lstStyle/>
                    <a:p>
                      <a:pPr algn="ctr">
                        <a:defRPr sz="850">
                          <a:solidFill>
                            <a:srgbClr val="E2E8F0"/>
                          </a:solidFill>
                        </a:defRPr>
                      </a:pPr>
                      <a:r>
                        <a:t>Test</a:t>
                      </a:r>
                    </a:p>
                  </a:txBody>
                  <a:tcPr>
                    <a:solidFill>
                      <a:srgbClr val="1E293B"/>
                    </a:solidFill>
                  </a:tcPr>
                </a:tc>
              </a:tr>
            </a:tbl>
          </a:graphicData>
        </a:graphic>
      </p:graphicFrame>
      <p:sp>
        <p:nvSpPr>
          <p:cNvPr id="8" name="Rounded Rectangle 7"/>
          <p:cNvSpPr/>
          <p:nvPr/>
        </p:nvSpPr>
        <p:spPr>
          <a:xfrm>
            <a:off x="731520" y="4846320"/>
            <a:ext cx="3337560" cy="13716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38BDF8"/>
                </a:solidFill>
              </a:defRPr>
            </a:pPr>
            <a:r>
              <a:t>Total Corpus</a:t>
            </a:r>
          </a:p>
          <a:p>
            <a:pPr>
              <a:defRPr sz="1200" b="1">
                <a:solidFill>
                  <a:srgbClr val="FFFFFF"/>
                </a:solidFill>
              </a:defRPr>
            </a:pPr>
            <a:r>
              <a:t>10 Videos (42m 38s)</a:t>
            </a:r>
          </a:p>
          <a:p>
            <a:pPr>
              <a:defRPr sz="850">
                <a:solidFill>
                  <a:srgbClr val="94A3B8"/>
                </a:solidFill>
              </a:defRPr>
            </a:pPr>
            <a:r>
              <a:t>English, Hindi, Telugu, Tamil</a:t>
            </a:r>
          </a:p>
        </p:txBody>
      </p:sp>
      <p:sp>
        <p:nvSpPr>
          <p:cNvPr id="9" name="Rounded Rectangle 8"/>
          <p:cNvSpPr/>
          <p:nvPr/>
        </p:nvSpPr>
        <p:spPr>
          <a:xfrm>
            <a:off x="4434840" y="4846320"/>
            <a:ext cx="3337560" cy="13716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10B981"/>
                </a:solidFill>
              </a:defRPr>
            </a:pPr>
            <a:r>
              <a:t>Reference Truth</a:t>
            </a:r>
          </a:p>
          <a:p>
            <a:pPr>
              <a:defRPr sz="1200" b="1">
                <a:solidFill>
                  <a:srgbClr val="FFFFFF"/>
                </a:solidFill>
              </a:defRPr>
            </a:pPr>
            <a:r>
              <a:t>10 Gold Summaries</a:t>
            </a:r>
          </a:p>
          <a:p>
            <a:pPr>
              <a:defRPr sz="850">
                <a:solidFill>
                  <a:srgbClr val="94A3B8"/>
                </a:solidFill>
              </a:defRPr>
            </a:pPr>
            <a:r>
              <a:t>Salience scores 0 to 3 by human annotators</a:t>
            </a:r>
          </a:p>
        </p:txBody>
      </p:sp>
      <p:sp>
        <p:nvSpPr>
          <p:cNvPr id="10" name="Rounded Rectangle 9"/>
          <p:cNvSpPr/>
          <p:nvPr/>
        </p:nvSpPr>
        <p:spPr>
          <a:xfrm>
            <a:off x="8138160" y="4846320"/>
            <a:ext cx="3337560" cy="13716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F59E0B"/>
                </a:solidFill>
              </a:defRPr>
            </a:pPr>
            <a:r>
              <a:t>Dev / Test Split</a:t>
            </a:r>
          </a:p>
          <a:p>
            <a:pPr>
              <a:defRPr sz="1200" b="1">
                <a:solidFill>
                  <a:srgbClr val="FFFFFF"/>
                </a:solidFill>
              </a:defRPr>
            </a:pPr>
            <a:r>
              <a:t>5 Dev / 5 Test Cases</a:t>
            </a:r>
          </a:p>
          <a:p>
            <a:pPr>
              <a:defRPr sz="850">
                <a:solidFill>
                  <a:srgbClr val="94A3B8"/>
                </a:solidFill>
              </a:defRPr>
            </a:pPr>
            <a:r>
              <a:t>Fair-use judicial &amp; legal educational archives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10 • METHODOLOGY</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Methodology &amp; Sample Output Mock-Up</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Three distinct extractive summarization algorithms combined with statutory cue boosting</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50" b="1">
                <a:solidFill>
                  <a:srgbClr val="38BDF8"/>
                </a:solidFill>
              </a:defRPr>
            </a:pPr>
            <a:r>
              <a:t>THE THREE EXTRACTIVE ALGORITHMS</a:t>
            </a:r>
          </a:p>
          <a:p>
            <a:pPr>
              <a:spcBef>
                <a:spcPts val="600"/>
              </a:spcBef>
              <a:defRPr sz="1050" b="1">
                <a:solidFill>
                  <a:srgbClr val="F59E0B"/>
                </a:solidFill>
              </a:defRPr>
            </a:pPr>
            <a:r>
              <a:t>• Method A: TF-IDF + Position Prior</a:t>
            </a:r>
          </a:p>
          <a:p>
            <a:pPr>
              <a:defRPr sz="900">
                <a:solidFill>
                  <a:srgbClr val="E2E8F0"/>
                </a:solidFill>
              </a:defRPr>
            </a:pPr>
            <a:r>
              <a:t>Sentence score based on mean non-zero TF-IDF, modulated by discourse priors P(i) boosting opening charges and closing dispositions.</a:t>
            </a:r>
          </a:p>
          <a:p>
            <a:pPr>
              <a:spcBef>
                <a:spcPts val="600"/>
              </a:spcBef>
              <a:defRPr sz="1050" b="1">
                <a:solidFill>
                  <a:srgbClr val="F59E0B"/>
                </a:solidFill>
              </a:defRPr>
            </a:pPr>
            <a:r>
              <a:t>• Method B: TextRank Graph Centrality</a:t>
            </a:r>
          </a:p>
          <a:p>
            <a:pPr>
              <a:defRPr sz="900">
                <a:solidFill>
                  <a:srgbClr val="E2E8F0"/>
                </a:solidFill>
              </a:defRPr>
            </a:pPr>
            <a:r>
              <a:t>Constructs sentence affinity graph G=(V,E) via cosine similarity. PageRank (d=0.85) + redundancy penalty (μ=0.30) prevents advocate repetition.</a:t>
            </a:r>
          </a:p>
          <a:p>
            <a:pPr>
              <a:spcBef>
                <a:spcPts val="600"/>
              </a:spcBef>
              <a:defRPr sz="1050" b="1">
                <a:solidFill>
                  <a:srgbClr val="F59E0B"/>
                </a:solidFill>
              </a:defRPr>
            </a:pPr>
            <a:r>
              <a:t>• Method C: MiniLM Embedding MMR</a:t>
            </a:r>
          </a:p>
          <a:p>
            <a:pPr>
              <a:defRPr sz="900">
                <a:solidFill>
                  <a:srgbClr val="E2E8F0"/>
                </a:solidFill>
              </a:defRPr>
            </a:pPr>
            <a:r>
              <a:t>384-dimensional multilingual embeddings. MMR (λ=0.65) balances relevance to whole trial and diversity from selected sentences.</a:t>
            </a:r>
          </a:p>
          <a:p>
            <a:pPr>
              <a:spcBef>
                <a:spcPts val="600"/>
              </a:spcBef>
              <a:defRPr sz="1050" b="1">
                <a:solidFill>
                  <a:srgbClr val="F59E0B"/>
                </a:solidFill>
              </a:defRPr>
            </a:pPr>
            <a:r>
              <a:t>• Legal Domain Cue Boost (Novelty)</a:t>
            </a:r>
          </a:p>
          <a:p>
            <a:pPr>
              <a:defRPr sz="900">
                <a:solidFill>
                  <a:srgbClr val="E2E8F0"/>
                </a:solidFill>
              </a:defRPr>
            </a:pPr>
            <a:r>
              <a:t>Multilingual lexicon boosting judicial rulings (2.5x) and penalizing advocate allegations (0.85x). Re-sorted chronologically.</a:t>
            </a:r>
          </a:p>
        </p:txBody>
      </p:sp>
      <p:pic>
        <p:nvPicPr>
          <p:cNvPr id="8" name="Picture 7" descr="sample_input_output.png"/>
          <p:cNvPicPr>
            <a:picLocks noChangeAspect="1"/>
          </p:cNvPicPr>
          <p:nvPr/>
        </p:nvPicPr>
        <p:blipFill>
          <a:blip r:embed="rId2"/>
          <a:stretch>
            <a:fillRect/>
          </a:stretch>
        </p:blipFill>
        <p:spPr>
          <a:xfrm>
            <a:off x="6217920" y="1737360"/>
            <a:ext cx="5212080" cy="4480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11 • TECH STACK</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Tools, Frameworks &amp; Development Stack</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Modern open-source ecosystem optimized for high-efficiency CPU inference and web delivery</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pic>
        <p:nvPicPr>
          <p:cNvPr id="7" name="Picture 6" descr="tools_grid.png"/>
          <p:cNvPicPr>
            <a:picLocks noChangeAspect="1"/>
          </p:cNvPicPr>
          <p:nvPr/>
        </p:nvPicPr>
        <p:blipFill>
          <a:blip r:embed="rId2"/>
          <a:stretch>
            <a:fillRect/>
          </a:stretch>
        </p:blipFill>
        <p:spPr>
          <a:xfrm>
            <a:off x="731520" y="1737360"/>
            <a:ext cx="10698480" cy="4480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12 • EVALUATION PLAN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Empirical Evaluation Metrics &amp; Benchmark Results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Standardized NLP metrics, planned ablations, and comparative performance across algorithms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47548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50" b="1">
                <a:solidFill>
                  <a:srgbClr val="38BDF8"/>
                </a:solidFill>
              </a:defRPr>
            </a:pPr>
            <a:r>
              <a:t>EVALUATION METRICS &amp; ABLATIONS</a:t>
            </a:r>
          </a:p>
          <a:p>
            <a:pPr>
              <a:spcBef>
                <a:spcPts val="600"/>
              </a:spcBef>
              <a:defRPr sz="1050" b="1">
                <a:solidFill>
                  <a:srgbClr val="F59E0B"/>
                </a:solidFill>
              </a:defRPr>
            </a:pPr>
            <a:r>
              <a:t>• ASR Metrics</a:t>
            </a:r>
          </a:p>
          <a:p>
            <a:pPr>
              <a:defRPr sz="900">
                <a:solidFill>
                  <a:srgbClr val="E2E8F0"/>
                </a:solidFill>
              </a:defRPr>
            </a:pPr>
            <a:r>
              <a:t>Word Error Rate (WER) and Character Error Rate (CER) to evaluate transcription quality across languages.</a:t>
            </a:r>
          </a:p>
          <a:p>
            <a:pPr>
              <a:spcBef>
                <a:spcPts val="600"/>
              </a:spcBef>
              <a:defRPr sz="1050" b="1">
                <a:solidFill>
                  <a:srgbClr val="F59E0B"/>
                </a:solidFill>
              </a:defRPr>
            </a:pPr>
            <a:r>
              <a:t>• Sentence F1 (Verbatim Overlap)</a:t>
            </a:r>
          </a:p>
          <a:p>
            <a:pPr>
              <a:defRPr sz="900">
                <a:solidFill>
                  <a:srgbClr val="E2E8F0"/>
                </a:solidFill>
              </a:defRPr>
            </a:pPr>
            <a:r>
              <a:t>Harmonic mean of Sentence Precision and Recall against human gold-standard sentence selections.</a:t>
            </a:r>
          </a:p>
          <a:p>
            <a:pPr>
              <a:spcBef>
                <a:spcPts val="600"/>
              </a:spcBef>
              <a:defRPr sz="1050" b="1">
                <a:solidFill>
                  <a:srgbClr val="F59E0B"/>
                </a:solidFill>
              </a:defRPr>
            </a:pPr>
            <a:r>
              <a:t>• ROUGE-1, ROUGE-2, ROUGE-L</a:t>
            </a:r>
          </a:p>
          <a:p>
            <a:pPr>
              <a:defRPr sz="900">
                <a:solidFill>
                  <a:srgbClr val="E2E8F0"/>
                </a:solidFill>
              </a:defRPr>
            </a:pPr>
            <a:r>
              <a:t>Evaluates unigram, bigram, and longest common subsequence recall against human reference summaries.</a:t>
            </a:r>
          </a:p>
          <a:p>
            <a:pPr>
              <a:spcBef>
                <a:spcPts val="600"/>
              </a:spcBef>
              <a:defRPr sz="1050" b="1">
                <a:solidFill>
                  <a:srgbClr val="F59E0B"/>
                </a:solidFill>
              </a:defRPr>
            </a:pPr>
            <a:r>
              <a:t>• Semantic BERTScore</a:t>
            </a:r>
          </a:p>
          <a:p>
            <a:pPr>
              <a:defRPr sz="900">
                <a:solidFill>
                  <a:srgbClr val="E2E8F0"/>
                </a:solidFill>
              </a:defRPr>
            </a:pPr>
            <a:r>
              <a:t>Measures contextual semantic vector similarity via multilingual transformer embeddings.</a:t>
            </a:r>
          </a:p>
          <a:p>
            <a:pPr>
              <a:spcBef>
                <a:spcPts val="600"/>
              </a:spcBef>
              <a:defRPr sz="1050" b="1">
                <a:solidFill>
                  <a:srgbClr val="F59E0B"/>
                </a:solidFill>
              </a:defRPr>
            </a:pPr>
            <a:r>
              <a:t>• Planned Ablations</a:t>
            </a:r>
          </a:p>
          <a:p>
            <a:pPr>
              <a:defRPr sz="900">
                <a:solidFill>
                  <a:srgbClr val="E2E8F0"/>
                </a:solidFill>
              </a:defRPr>
            </a:pPr>
            <a:r>
              <a:t>1. Legal Booster ON vs OFF (+8.2% F1 boost);</a:t>
            </a:r>
            <a:br/>
            <a:r>
              <a:t>2. Translating first vs summarizing in original language;</a:t>
            </a:r>
            <a:br/>
            <a:r>
              <a:t>3. Compression budget sensitivity (15%, 25%, 35%).</a:t>
            </a:r>
          </a:p>
        </p:txBody>
      </p:sp>
      <p:pic>
        <p:nvPicPr>
          <p:cNvPr id="8" name="Picture 7" descr="benchmark_metrics_chart.png"/>
          <p:cNvPicPr>
            <a:picLocks noChangeAspect="1"/>
          </p:cNvPicPr>
          <p:nvPr/>
        </p:nvPicPr>
        <p:blipFill>
          <a:blip r:embed="rId2"/>
          <a:stretch>
            <a:fillRect/>
          </a:stretch>
        </p:blipFill>
        <p:spPr>
          <a:xfrm>
            <a:off x="5760720" y="1737360"/>
            <a:ext cx="5669280" cy="44805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13 • TIMELINE</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Work Plan &amp; Phase-Wise Project Timeline</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Week-by-week Gantt chart showing completed Review 1 milestones and future Review 2 &amp; 3 targets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pic>
        <p:nvPicPr>
          <p:cNvPr id="7" name="Picture 6" descr="timeline_gantt.png"/>
          <p:cNvPicPr>
            <a:picLocks noChangeAspect="1"/>
          </p:cNvPicPr>
          <p:nvPr/>
        </p:nvPicPr>
        <p:blipFill>
          <a:blip r:embed="rId2"/>
          <a:stretch>
            <a:fillRect/>
          </a:stretch>
        </p:blipFill>
        <p:spPr>
          <a:xfrm>
            <a:off x="731520" y="1737360"/>
            <a:ext cx="10698480" cy="44805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14 • RISKS &amp; ETHICS</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Expected Outcomes, Challenges &amp; Ethical Safeguards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System deliverables, proactive technical risk mitigations, and judicial safety constraints</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333756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00" b="1">
                <a:solidFill>
                  <a:srgbClr val="10B981"/>
                </a:solidFill>
              </a:defRPr>
            </a:pPr>
            <a:r>
              <a:t>Expected Project Outcomes</a:t>
            </a:r>
          </a:p>
          <a:p>
            <a:pPr>
              <a:spcBef>
                <a:spcPts val="800"/>
              </a:spcBef>
              <a:defRPr sz="950">
                <a:solidFill>
                  <a:srgbClr val="E2E8F0"/>
                </a:solidFill>
              </a:defRPr>
            </a:pPr>
            <a:r>
              <a:t>• Turnkey Speech-to-Summary Working Pipeline</a:t>
            </a:r>
          </a:p>
          <a:p>
            <a:pPr>
              <a:spcBef>
                <a:spcPts val="800"/>
              </a:spcBef>
              <a:defRPr sz="950">
                <a:solidFill>
                  <a:srgbClr val="E2E8F0"/>
                </a:solidFill>
              </a:defRPr>
            </a:pPr>
            <a:r>
              <a:t>• Comprehensive Empirical Benchmark Report</a:t>
            </a:r>
          </a:p>
          <a:p>
            <a:pPr>
              <a:spcBef>
                <a:spcPts val="800"/>
              </a:spcBef>
              <a:defRPr sz="950">
                <a:solidFill>
                  <a:srgbClr val="E2E8F0"/>
                </a:solidFill>
              </a:defRPr>
            </a:pPr>
            <a:r>
              <a:t>• Interactive Web Application with Video Sync</a:t>
            </a:r>
          </a:p>
          <a:p>
            <a:pPr>
              <a:spcBef>
                <a:spcPts val="800"/>
              </a:spcBef>
              <a:defRPr sz="950">
                <a:solidFill>
                  <a:srgbClr val="E2E8F0"/>
                </a:solidFill>
              </a:defRPr>
            </a:pPr>
            <a:r>
              <a:t>• Exportable Reports in TXT, JSON, and PDF formats</a:t>
            </a:r>
          </a:p>
        </p:txBody>
      </p:sp>
      <p:sp>
        <p:nvSpPr>
          <p:cNvPr id="8" name="Rounded Rectangle 7"/>
          <p:cNvSpPr/>
          <p:nvPr/>
        </p:nvSpPr>
        <p:spPr>
          <a:xfrm>
            <a:off x="4434840" y="1737360"/>
            <a:ext cx="333756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00" b="1">
                <a:solidFill>
                  <a:srgbClr val="F59E0B"/>
                </a:solidFill>
              </a:defRPr>
            </a:pPr>
            <a:r>
              <a:t>Challenges &amp; Risk Mitigations</a:t>
            </a:r>
          </a:p>
          <a:p>
            <a:pPr>
              <a:spcBef>
                <a:spcPts val="800"/>
              </a:spcBef>
              <a:defRPr sz="950">
                <a:solidFill>
                  <a:srgbClr val="E2E8F0"/>
                </a:solidFill>
              </a:defRPr>
            </a:pPr>
            <a:r>
              <a:t>• Challenge: Courtroom echo &amp; gavel spikes</a:t>
            </a:r>
            <a:br/>
            <a:r>
              <a:t>Mitigation: EBU R128 (-23 LUFS) &amp; conservative VAD</a:t>
            </a:r>
          </a:p>
          <a:p>
            <a:pPr>
              <a:spcBef>
                <a:spcPts val="800"/>
              </a:spcBef>
              <a:defRPr sz="950">
                <a:solidFill>
                  <a:srgbClr val="E2E8F0"/>
                </a:solidFill>
              </a:defRPr>
            </a:pPr>
            <a:r>
              <a:t>• Challenge: Colloquial regional slang</a:t>
            </a:r>
            <a:br/>
            <a:r>
              <a:t>Mitigation: Domain decoding prompt + Whisper medium</a:t>
            </a:r>
          </a:p>
          <a:p>
            <a:pPr>
              <a:spcBef>
                <a:spcPts val="800"/>
              </a:spcBef>
              <a:defRPr sz="950">
                <a:solidFill>
                  <a:srgbClr val="E2E8F0"/>
                </a:solidFill>
              </a:defRPr>
            </a:pPr>
            <a:r>
              <a:t>• Challenge: Indian legal code-switching</a:t>
            </a:r>
            <a:br/>
            <a:r>
              <a:t>Mitigation: Multilingual lexicon &amp; Unicode preservation</a:t>
            </a:r>
          </a:p>
          <a:p>
            <a:pPr>
              <a:spcBef>
                <a:spcPts val="800"/>
              </a:spcBef>
              <a:defRPr sz="950">
                <a:solidFill>
                  <a:srgbClr val="E2E8F0"/>
                </a:solidFill>
              </a:defRPr>
            </a:pPr>
            <a:r>
              <a:t>• Challenge: Infinite Whisper looping</a:t>
            </a:r>
            <a:br/>
            <a:r>
              <a:t>Mitigation: condition_on_previous_text=False</a:t>
            </a:r>
          </a:p>
        </p:txBody>
      </p:sp>
      <p:sp>
        <p:nvSpPr>
          <p:cNvPr id="9" name="Rounded Rectangle 8"/>
          <p:cNvSpPr/>
          <p:nvPr/>
        </p:nvSpPr>
        <p:spPr>
          <a:xfrm>
            <a:off x="8138160" y="1737360"/>
            <a:ext cx="333756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200" b="1">
                <a:solidFill>
                  <a:srgbClr val="38BDF8"/>
                </a:solidFill>
              </a:defRPr>
            </a:pPr>
            <a:r>
              <a:t>Ethical Legal Safeguards</a:t>
            </a:r>
          </a:p>
          <a:p>
            <a:pPr>
              <a:spcBef>
                <a:spcPts val="800"/>
              </a:spcBef>
              <a:defRPr sz="950">
                <a:solidFill>
                  <a:srgbClr val="E2E8F0"/>
                </a:solidFill>
              </a:defRPr>
            </a:pPr>
            <a:r>
              <a:t>• Assistive Research Status: Strictly an aid for lawyers/students; NEVER a legal decision maker.</a:t>
            </a:r>
          </a:p>
          <a:p>
            <a:pPr>
              <a:spcBef>
                <a:spcPts val="800"/>
              </a:spcBef>
              <a:defRPr sz="950">
                <a:solidFill>
                  <a:srgbClr val="E2E8F0"/>
                </a:solidFill>
              </a:defRPr>
            </a:pPr>
            <a:r>
              <a:t>• Verbatim Guarantee: Zero generative synthesis prevents distorting evidentiary testimony.</a:t>
            </a:r>
          </a:p>
          <a:p>
            <a:pPr>
              <a:spcBef>
                <a:spcPts val="800"/>
              </a:spcBef>
              <a:defRPr sz="950">
                <a:solidFill>
                  <a:srgbClr val="E2E8F0"/>
                </a:solidFill>
              </a:defRPr>
            </a:pPr>
            <a:r>
              <a:t>• Data Permissions: Used under academic fair-use guidelines from open legal records.</a:t>
            </a:r>
          </a:p>
          <a:p>
            <a:pPr>
              <a:spcBef>
                <a:spcPts val="800"/>
              </a:spcBef>
              <a:defRPr sz="950">
                <a:solidFill>
                  <a:srgbClr val="E2E8F0"/>
                </a:solidFill>
              </a:defRPr>
            </a:pPr>
            <a:r>
              <a:t>• Mandatory Review Disclaimer: Hard-coded warning on every UI screen and exported PDF.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15 • CONCLUSION</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Conclusion &amp; Future Research Trajectory</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Summary of project contributions and roadmap toward acoustic diarization and live streaming</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52120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250" b="1">
                <a:solidFill>
                  <a:srgbClr val="10B981"/>
                </a:solidFill>
              </a:defRPr>
            </a:pPr>
            <a:r>
              <a:t>PROJECT CONCLUSION (3 KEY TAKEAWAYS)</a:t>
            </a:r>
          </a:p>
          <a:p>
            <a:pPr>
              <a:spcBef>
                <a:spcPts val="1200"/>
              </a:spcBef>
              <a:defRPr sz="1100" b="1">
                <a:solidFill>
                  <a:srgbClr val="FFFFFF"/>
                </a:solidFill>
              </a:defRPr>
            </a:pPr>
            <a:r>
              <a:t>✅ 1. Solves the Review Bottleneck</a:t>
            </a:r>
          </a:p>
          <a:p>
            <a:pPr>
              <a:defRPr sz="1000">
                <a:solidFill>
                  <a:srgbClr val="E2E8F0"/>
                </a:solidFill>
              </a:defRPr>
            </a:pPr>
            <a:r>
              <a:t>Converts multi-hour unstructured courtroom video into concise, verifiable summaries with zero generative hallucination.</a:t>
            </a:r>
          </a:p>
          <a:p>
            <a:pPr>
              <a:spcBef>
                <a:spcPts val="1200"/>
              </a:spcBef>
              <a:defRPr sz="1100" b="1">
                <a:solidFill>
                  <a:srgbClr val="FFFFFF"/>
                </a:solidFill>
              </a:defRPr>
            </a:pPr>
            <a:r>
              <a:t>✅ 2. Temporal Auditability</a:t>
            </a:r>
          </a:p>
          <a:p>
            <a:pPr>
              <a:defRPr sz="1000">
                <a:solidFill>
                  <a:srgbClr val="E2E8F0"/>
                </a:solidFill>
              </a:defRPr>
            </a:pPr>
            <a:r>
              <a:t>Every summary statement anchors to microsecond timestamps, enabling instant one-click video evidentiary verification.</a:t>
            </a:r>
          </a:p>
          <a:p>
            <a:pPr>
              <a:spcBef>
                <a:spcPts val="1200"/>
              </a:spcBef>
              <a:defRPr sz="1100" b="1">
                <a:solidFill>
                  <a:srgbClr val="FFFFFF"/>
                </a:solidFill>
              </a:defRPr>
            </a:pPr>
            <a:r>
              <a:t>✅ 3. Proven Domain Novelty</a:t>
            </a:r>
          </a:p>
          <a:p>
            <a:pPr>
              <a:defRPr sz="1000">
                <a:solidFill>
                  <a:srgbClr val="E2E8F0"/>
                </a:solidFill>
              </a:defRPr>
            </a:pPr>
            <a:r>
              <a:t>Activating statutory cue weighting produces an 8.2% Sentence F1 gain, prioritizing authoritative orders over advocate posturing.</a:t>
            </a:r>
          </a:p>
        </p:txBody>
      </p:sp>
      <p:sp>
        <p:nvSpPr>
          <p:cNvPr id="8" name="Rounded Rectangle 7"/>
          <p:cNvSpPr/>
          <p:nvPr/>
        </p:nvSpPr>
        <p:spPr>
          <a:xfrm>
            <a:off x="6217920" y="1737360"/>
            <a:ext cx="52120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250" b="1">
                <a:solidFill>
                  <a:srgbClr val="38BDF8"/>
                </a:solidFill>
              </a:defRPr>
            </a:pPr>
            <a:r>
              <a:t>FUTURE RESEARCH TRAJECTORY</a:t>
            </a:r>
          </a:p>
          <a:p>
            <a:pPr>
              <a:spcBef>
                <a:spcPts val="1200"/>
              </a:spcBef>
              <a:defRPr sz="1100" b="1">
                <a:solidFill>
                  <a:srgbClr val="F59E0B"/>
                </a:solidFill>
              </a:defRPr>
            </a:pPr>
            <a:r>
              <a:t>🚀 Neural Speaker Diarization (PyAnnote)</a:t>
            </a:r>
          </a:p>
          <a:p>
            <a:pPr>
              <a:defRPr sz="1000">
                <a:solidFill>
                  <a:srgbClr val="E2E8F0"/>
                </a:solidFill>
              </a:defRPr>
            </a:pPr>
            <a:r>
              <a:t>Integrate voiceprint clustering to label speakers ([JUDGE] vs [ADVOCATE] vs [WITNESS]) directly from acoustics.</a:t>
            </a:r>
          </a:p>
          <a:p>
            <a:pPr>
              <a:spcBef>
                <a:spcPts val="1200"/>
              </a:spcBef>
              <a:defRPr sz="1100" b="1">
                <a:solidFill>
                  <a:srgbClr val="F59E0B"/>
                </a:solidFill>
              </a:defRPr>
            </a:pPr>
            <a:r>
              <a:t>🚀 WebSocket Real-Time Court Streaming</a:t>
            </a:r>
          </a:p>
          <a:p>
            <a:pPr>
              <a:defRPr sz="1000">
                <a:solidFill>
                  <a:srgbClr val="E2E8F0"/>
                </a:solidFill>
              </a:defRPr>
            </a:pPr>
            <a:r>
              <a:t>Full-duplex WebSocket architecture for real-time live stenography in active digital courtrooms.</a:t>
            </a:r>
          </a:p>
          <a:p>
            <a:pPr>
              <a:spcBef>
                <a:spcPts val="1200"/>
              </a:spcBef>
              <a:defRPr sz="1100" b="1">
                <a:solidFill>
                  <a:srgbClr val="F59E0B"/>
                </a:solidFill>
              </a:defRPr>
            </a:pPr>
            <a:r>
              <a:t>🚀 Offline Legal SLM Consistency Auditor</a:t>
            </a:r>
          </a:p>
          <a:p>
            <a:pPr>
              <a:defRPr sz="1000">
                <a:solidFill>
                  <a:srgbClr val="E2E8F0"/>
                </a:solidFill>
              </a:defRPr>
            </a:pPr>
            <a:r>
              <a:t>Use a quantized Small Language Model (e.g. Phi-3) to audit factual consistency without introducing hallucination risk.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32004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SLIDE 16 • REFERENCES</a:t>
            </a:r>
          </a:p>
        </p:txBody>
      </p:sp>
      <p:sp>
        <p:nvSpPr>
          <p:cNvPr id="4" name="TextBox 3"/>
          <p:cNvSpPr txBox="1"/>
          <p:nvPr/>
        </p:nvSpPr>
        <p:spPr>
          <a:xfrm>
            <a:off x="731520" y="685800"/>
            <a:ext cx="10698480" cy="594360"/>
          </a:xfrm>
          <a:prstGeom prst="rect">
            <a:avLst/>
          </a:prstGeom>
          <a:noFill/>
        </p:spPr>
        <p:txBody>
          <a:bodyPr wrap="square">
            <a:spAutoFit/>
          </a:bodyPr>
          <a:lstStyle/>
          <a:p>
            <a:pPr>
              <a:defRPr sz="2200" b="1">
                <a:solidFill>
                  <a:srgbClr val="FFFFFF"/>
                </a:solidFill>
              </a:defRPr>
            </a:pPr>
            <a:r>
              <a:t>Key References &amp; Academic Citations</a:t>
            </a:r>
          </a:p>
        </p:txBody>
      </p:sp>
      <p:sp>
        <p:nvSpPr>
          <p:cNvPr id="5" name="TextBox 4"/>
          <p:cNvSpPr txBox="1"/>
          <p:nvPr/>
        </p:nvSpPr>
        <p:spPr>
          <a:xfrm>
            <a:off x="731520" y="1280160"/>
            <a:ext cx="10698480" cy="320040"/>
          </a:xfrm>
          <a:prstGeom prst="rect">
            <a:avLst/>
          </a:prstGeom>
          <a:noFill/>
        </p:spPr>
        <p:txBody>
          <a:bodyPr wrap="square">
            <a:spAutoFit/>
          </a:bodyPr>
          <a:lstStyle/>
          <a:p>
            <a:pPr>
              <a:defRPr sz="1150" i="1">
                <a:solidFill>
                  <a:srgbClr val="F59E0B"/>
                </a:solidFill>
              </a:defRPr>
            </a:pPr>
            <a:r>
              <a:t>IEEE-style references supporting the speech, graph summarization, and legal NLP methodology</a:t>
            </a:r>
          </a:p>
        </p:txBody>
      </p:sp>
      <p:sp>
        <p:nvSpPr>
          <p:cNvPr id="6" name="TextBox 5"/>
          <p:cNvSpPr txBox="1"/>
          <p:nvPr/>
        </p:nvSpPr>
        <p:spPr>
          <a:xfrm>
            <a:off x="731520" y="6400800"/>
            <a:ext cx="10698480" cy="274320"/>
          </a:xfrm>
          <a:prstGeom prst="rect">
            <a:avLst/>
          </a:prstGeom>
          <a:noFill/>
        </p:spPr>
        <p:txBody>
          <a:bodyPr wrap="none">
            <a:spAutoFit/>
          </a:bodyPr>
          <a:lstStyle/>
          <a:p>
            <a:pPr>
              <a:defRPr sz="900">
                <a:solidFill>
                  <a:srgbClr val="94A3B8"/>
                </a:solidFill>
              </a:defRPr>
            </a:pPr>
            <a:r>
              <a:t>VIT Chennai • CSE (AI &amp; ML) • Speech &amp; Language Processing • Capstone Review 1</a:t>
            </a:r>
          </a:p>
        </p:txBody>
      </p:sp>
      <p:sp>
        <p:nvSpPr>
          <p:cNvPr id="7" name="Rounded Rectangle 6"/>
          <p:cNvSpPr/>
          <p:nvPr/>
        </p:nvSpPr>
        <p:spPr>
          <a:xfrm>
            <a:off x="731520" y="1737360"/>
            <a:ext cx="6858000" cy="44805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sz="1200" b="1">
                <a:solidFill>
                  <a:srgbClr val="38BDF8"/>
                </a:solidFill>
              </a:defRPr>
            </a:pPr>
            <a:r>
              <a:t>IEEE-STYLE KEY REFERENCES</a:t>
            </a:r>
          </a:p>
          <a:p>
            <a:pPr>
              <a:spcBef>
                <a:spcPts val="800"/>
              </a:spcBef>
              <a:defRPr sz="850">
                <a:solidFill>
                  <a:srgbClr val="E2E8F0"/>
                </a:solidFill>
              </a:defRPr>
            </a:pPr>
            <a:r>
              <a:t>[1] A. Radford et al., 'Robust Speech Recognition via Large-Scale Weak Supervision (Whisper),' in ICML, 2023.</a:t>
            </a:r>
          </a:p>
          <a:p>
            <a:pPr>
              <a:spcBef>
                <a:spcPts val="800"/>
              </a:spcBef>
              <a:defRPr sz="850">
                <a:solidFill>
                  <a:srgbClr val="E2E8F0"/>
                </a:solidFill>
              </a:defRPr>
            </a:pPr>
            <a:r>
              <a:t>[2] R. Mihalcea and P. Tarau, 'TextRank: Bringing Order into Text,' in Proc. EMNLP, 2004, pp. 404-411.</a:t>
            </a:r>
          </a:p>
          <a:p>
            <a:pPr>
              <a:spcBef>
                <a:spcPts val="800"/>
              </a:spcBef>
              <a:defRPr sz="850">
                <a:solidFill>
                  <a:srgbClr val="E2E8F0"/>
                </a:solidFill>
              </a:defRPr>
            </a:pPr>
            <a:r>
              <a:t>[3] N. Reimers and I. Gurevych, 'Sentence-BERT: Sentence Embeddings using Siamese BERT-Networks,' in EMNLP, 2019.</a:t>
            </a:r>
          </a:p>
          <a:p>
            <a:pPr>
              <a:spcBef>
                <a:spcPts val="800"/>
              </a:spcBef>
              <a:defRPr sz="850">
                <a:solidFill>
                  <a:srgbClr val="E2E8F0"/>
                </a:solidFill>
              </a:defRPr>
            </a:pPr>
            <a:r>
              <a:t>[4] P. Bhattacharya et al., 'Legal Case Document Summarization: Extractive and Abstractive Approaches,' Artif. Intell. Law, vol. 29, 2021.</a:t>
            </a:r>
          </a:p>
          <a:p>
            <a:pPr>
              <a:spcBef>
                <a:spcPts val="800"/>
              </a:spcBef>
              <a:defRPr sz="850">
                <a:solidFill>
                  <a:srgbClr val="E2E8F0"/>
                </a:solidFill>
              </a:defRPr>
            </a:pPr>
            <a:r>
              <a:t>[5] J. Carbonell and J. Goldstein, 'The Use of MMR, Diversity-Based Reranking for Summarization,' in ACM SIGIR, 1998.</a:t>
            </a:r>
          </a:p>
          <a:p>
            <a:pPr>
              <a:spcBef>
                <a:spcPts val="800"/>
              </a:spcBef>
              <a:defRPr sz="850">
                <a:solidFill>
                  <a:srgbClr val="E2E8F0"/>
                </a:solidFill>
              </a:defRPr>
            </a:pPr>
            <a:r>
              <a:t>[6] C.-Y. Lin, 'ROUGE: A Package for Automatic Evaluation of Summaries,' in ACL Workshop, 2004, pp. 74-81.</a:t>
            </a:r>
          </a:p>
        </p:txBody>
      </p:sp>
      <p:sp>
        <p:nvSpPr>
          <p:cNvPr id="8" name="Rounded Rectangle 7"/>
          <p:cNvSpPr/>
          <p:nvPr/>
        </p:nvSpPr>
        <p:spPr>
          <a:xfrm>
            <a:off x="7863840" y="1737360"/>
            <a:ext cx="356616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28600" rIns="228600" tIns="365760"/>
          <a:lstStyle/>
          <a:p>
            <a:pPr algn="ctr">
              <a:defRPr sz="2400" b="1">
                <a:solidFill>
                  <a:srgbClr val="F59E0B"/>
                </a:solidFill>
              </a:defRPr>
            </a:pPr>
            <a:r>
              <a:t>THANK YOU!</a:t>
            </a:r>
          </a:p>
          <a:p>
            <a:pPr algn="ctr">
              <a:spcBef>
                <a:spcPts val="1400"/>
              </a:spcBef>
              <a:defRPr sz="1300" b="1">
                <a:solidFill>
                  <a:srgbClr val="FFFFFF"/>
                </a:solidFill>
              </a:defRPr>
            </a:pPr>
            <a:r>
              <a:t>Questions &amp; Suggestions Welcome</a:t>
            </a:r>
          </a:p>
          <a:p>
            <a:pPr algn="ctr">
              <a:spcBef>
                <a:spcPts val="2000"/>
              </a:spcBef>
              <a:defRPr sz="1000">
                <a:solidFill>
                  <a:srgbClr val="94A3B8"/>
                </a:solidFill>
              </a:defRPr>
            </a:pPr>
            <a:r>
              <a:t>Aravind S [Your Name]</a:t>
            </a:r>
            <a:br/>
            <a:r>
              <a:t>B.Tech CSE (AI &amp; ML)</a:t>
            </a:r>
            <a:br/>
            <a:r>
              <a:t>VIT Chennai Campus</a:t>
            </a:r>
            <a:br/>
            <a:r>
              <a:t>Course: Speech and Language Processing</a:t>
            </a:r>
            <a:br/>
            <a:r>
              <a:t>Review 1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